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Barlow SemiCondensed Bold" charset="1" panose="00000806000000000000"/>
      <p:regular r:id="rId10"/>
    </p:embeddedFont>
    <p:embeddedFont>
      <p:font typeface="Canva Sans" charset="1" panose="020B0503030501040103"/>
      <p:regular r:id="rId11"/>
    </p:embeddedFont>
    <p:embeddedFont>
      <p:font typeface="ABeeZee Bold" charset="1" panose="02000000000000000000"/>
      <p:regular r:id="rId12"/>
    </p:embeddedFont>
    <p:embeddedFont>
      <p:font typeface="ABeeZee" charset="1" panose="02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4323" y="7226864"/>
            <a:ext cx="2785070" cy="3301269"/>
          </a:xfrm>
          <a:custGeom>
            <a:avLst/>
            <a:gdLst/>
            <a:ahLst/>
            <a:cxnLst/>
            <a:rect r="r" b="b" t="t" l="l"/>
            <a:pathLst>
              <a:path h="3301269" w="2785070">
                <a:moveTo>
                  <a:pt x="0" y="0"/>
                </a:moveTo>
                <a:lnTo>
                  <a:pt x="2785070" y="0"/>
                </a:lnTo>
                <a:lnTo>
                  <a:pt x="2785070" y="3301269"/>
                </a:lnTo>
                <a:lnTo>
                  <a:pt x="0" y="3301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588736" y="-1070386"/>
            <a:ext cx="2481021" cy="2940865"/>
          </a:xfrm>
          <a:custGeom>
            <a:avLst/>
            <a:gdLst/>
            <a:ahLst/>
            <a:cxnLst/>
            <a:rect r="r" b="b" t="t" l="l"/>
            <a:pathLst>
              <a:path h="2940865" w="2481021">
                <a:moveTo>
                  <a:pt x="2481021" y="2940865"/>
                </a:moveTo>
                <a:lnTo>
                  <a:pt x="0" y="2940865"/>
                </a:lnTo>
                <a:lnTo>
                  <a:pt x="0" y="0"/>
                </a:lnTo>
                <a:lnTo>
                  <a:pt x="2481021" y="0"/>
                </a:lnTo>
                <a:lnTo>
                  <a:pt x="2481021" y="294086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7061" y="6997418"/>
            <a:ext cx="845876" cy="861541"/>
          </a:xfrm>
          <a:custGeom>
            <a:avLst/>
            <a:gdLst/>
            <a:ahLst/>
            <a:cxnLst/>
            <a:rect r="r" b="b" t="t" l="l"/>
            <a:pathLst>
              <a:path h="861541" w="845876">
                <a:moveTo>
                  <a:pt x="0" y="0"/>
                </a:moveTo>
                <a:lnTo>
                  <a:pt x="845877" y="0"/>
                </a:lnTo>
                <a:lnTo>
                  <a:pt x="845877" y="861541"/>
                </a:lnTo>
                <a:lnTo>
                  <a:pt x="0" y="861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7002921" y="1449665"/>
            <a:ext cx="826325" cy="841628"/>
          </a:xfrm>
          <a:custGeom>
            <a:avLst/>
            <a:gdLst/>
            <a:ahLst/>
            <a:cxnLst/>
            <a:rect r="r" b="b" t="t" l="l"/>
            <a:pathLst>
              <a:path h="841628" w="826325">
                <a:moveTo>
                  <a:pt x="826326" y="841628"/>
                </a:moveTo>
                <a:lnTo>
                  <a:pt x="0" y="841628"/>
                </a:lnTo>
                <a:lnTo>
                  <a:pt x="0" y="0"/>
                </a:lnTo>
                <a:lnTo>
                  <a:pt x="826326" y="0"/>
                </a:lnTo>
                <a:lnTo>
                  <a:pt x="826326" y="84162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270881" y="8022214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71862" y="1582031"/>
            <a:ext cx="15887438" cy="356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98"/>
              </a:lnSpc>
            </a:pPr>
            <a:r>
              <a:rPr lang="en-US" b="true" sz="6784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DESIGN AND IMPLEMENTATION OF A DATABASE MANAGEMENT SYSTEM FOR VEHICLE SERVICE CENTRE MANAGEMENT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84284" y="6091583"/>
            <a:ext cx="4619625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3A5F7D"/>
                </a:solidFill>
                <a:latin typeface="Canva Sans"/>
                <a:ea typeface="Canva Sans"/>
                <a:cs typeface="Canva Sans"/>
                <a:sym typeface="Canva Sans"/>
              </a:rPr>
              <a:t>K. Devika</a:t>
            </a:r>
          </a:p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3A5F7D"/>
                </a:solidFill>
                <a:latin typeface="Canva Sans"/>
                <a:ea typeface="Canva Sans"/>
                <a:cs typeface="Canva Sans"/>
                <a:sym typeface="Canva Sans"/>
              </a:rPr>
              <a:t>25WU0102120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8191" y="-63083"/>
            <a:ext cx="3919427" cy="107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74"/>
              </a:lnSpc>
            </a:pPr>
            <a:r>
              <a:rPr lang="en-US" sz="6267" b="true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ER DIAGRAM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0">
            <a:off x="16537236" y="-486849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2017078" y="2390934"/>
                </a:moveTo>
                <a:lnTo>
                  <a:pt x="0" y="2390934"/>
                </a:lnTo>
                <a:lnTo>
                  <a:pt x="0" y="0"/>
                </a:lnTo>
                <a:lnTo>
                  <a:pt x="2017078" y="0"/>
                </a:lnTo>
                <a:lnTo>
                  <a:pt x="2017078" y="239093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1270750"/>
            <a:ext cx="18288000" cy="8597725"/>
            <a:chOff x="0" y="0"/>
            <a:chExt cx="24384000" cy="1146363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12439414" y="6507549"/>
              <a:ext cx="1532385" cy="614374"/>
              <a:chOff x="0" y="0"/>
              <a:chExt cx="5082536" cy="203772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082536" cy="2037724"/>
              </a:xfrm>
              <a:custGeom>
                <a:avLst/>
                <a:gdLst/>
                <a:ahLst/>
                <a:cxnLst/>
                <a:rect r="r" b="b" t="t" l="l"/>
                <a:pathLst>
                  <a:path h="2037724" w="5082536">
                    <a:moveTo>
                      <a:pt x="0" y="0"/>
                    </a:moveTo>
                    <a:lnTo>
                      <a:pt x="5082536" y="0"/>
                    </a:lnTo>
                    <a:lnTo>
                      <a:pt x="5082536" y="2037724"/>
                    </a:lnTo>
                    <a:lnTo>
                      <a:pt x="0" y="2037724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5082536" cy="20758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6"/>
                  </a:lnSpc>
                  <a:spcBef>
                    <a:spcPct val="0"/>
                  </a:spcBef>
                </a:pPr>
                <a:r>
                  <a:rPr lang="en-US" sz="1447">
                    <a:solidFill>
                      <a:srgbClr val="000000"/>
                    </a:solidFill>
                    <a:latin typeface="ABeeZee Bold"/>
                    <a:ea typeface="ABeeZee Bold"/>
                    <a:cs typeface="ABeeZee Bold"/>
                    <a:sym typeface="ABeeZee Bold"/>
                  </a:rPr>
                  <a:t>JOB CARD</a:t>
                </a: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8585205" y="6466098"/>
              <a:ext cx="1532385" cy="697276"/>
              <a:chOff x="0" y="0"/>
              <a:chExt cx="5082536" cy="231268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5082536" cy="2312687"/>
              </a:xfrm>
              <a:custGeom>
                <a:avLst/>
                <a:gdLst/>
                <a:ahLst/>
                <a:cxnLst/>
                <a:rect r="r" b="b" t="t" l="l"/>
                <a:pathLst>
                  <a:path h="2312687" w="5082536">
                    <a:moveTo>
                      <a:pt x="0" y="0"/>
                    </a:moveTo>
                    <a:lnTo>
                      <a:pt x="5082536" y="0"/>
                    </a:lnTo>
                    <a:lnTo>
                      <a:pt x="5082536" y="2312687"/>
                    </a:lnTo>
                    <a:lnTo>
                      <a:pt x="0" y="2312687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5082536" cy="23507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6"/>
                  </a:lnSpc>
                  <a:spcBef>
                    <a:spcPct val="0"/>
                  </a:spcBef>
                </a:pPr>
                <a:r>
                  <a:rPr lang="en-US" sz="1447">
                    <a:solidFill>
                      <a:srgbClr val="000000"/>
                    </a:solidFill>
                    <a:latin typeface="ABeeZee Bold"/>
                    <a:ea typeface="ABeeZee Bold"/>
                    <a:cs typeface="ABeeZee Bold"/>
                    <a:sym typeface="ABeeZee Bold"/>
                  </a:rPr>
                  <a:t>SERVICE BOOKING</a:t>
                </a:r>
              </a:p>
            </p:txBody>
          </p:sp>
        </p:grpSp>
        <p:sp>
          <p:nvSpPr>
            <p:cNvPr name="Freeform 11" id="11"/>
            <p:cNvSpPr/>
            <p:nvPr/>
          </p:nvSpPr>
          <p:spPr>
            <a:xfrm>
              <a:off x="10117590" y="6814736"/>
              <a:ext cx="1160912" cy="0"/>
            </a:xfrm>
            <a:custGeom>
              <a:avLst/>
              <a:gdLst/>
              <a:ahLst/>
              <a:cxnLst/>
              <a:rect r="r" b="b" t="t" l="l"/>
              <a:pathLst>
                <a:path h="0" w="1160912">
                  <a:moveTo>
                    <a:pt x="1160912" y="0"/>
                  </a:moveTo>
                  <a:lnTo>
                    <a:pt x="0" y="0"/>
                  </a:lnTo>
                </a:path>
              </a:pathLst>
            </a:custGeom>
            <a:ln cap="rnd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2" id="12"/>
            <p:cNvGrpSpPr/>
            <p:nvPr/>
          </p:nvGrpSpPr>
          <p:grpSpPr>
            <a:xfrm rot="0">
              <a:off x="10497772" y="6251666"/>
              <a:ext cx="1542687" cy="1126139"/>
              <a:chOff x="0" y="0"/>
              <a:chExt cx="1113447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11344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113447">
                    <a:moveTo>
                      <a:pt x="556723" y="0"/>
                    </a:moveTo>
                    <a:lnTo>
                      <a:pt x="1113447" y="406400"/>
                    </a:lnTo>
                    <a:lnTo>
                      <a:pt x="556723" y="812800"/>
                    </a:lnTo>
                    <a:lnTo>
                      <a:pt x="0" y="406400"/>
                    </a:lnTo>
                    <a:lnTo>
                      <a:pt x="556723" y="0"/>
                    </a:ln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91374" y="101600"/>
                <a:ext cx="730699" cy="57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6"/>
                  </a:lnSpc>
                  <a:spcBef>
                    <a:spcPct val="0"/>
                  </a:spcBef>
                </a:pPr>
                <a:r>
                  <a:rPr lang="en-US" sz="1447">
                    <a:solidFill>
                      <a:srgbClr val="000000"/>
                    </a:solidFill>
                    <a:latin typeface="ABeeZee Bold"/>
                    <a:ea typeface="ABeeZee Bold"/>
                    <a:cs typeface="ABeeZee Bold"/>
                    <a:sym typeface="ABeeZee Bold"/>
                  </a:rPr>
                  <a:t>CREATE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4843972" y="6507549"/>
              <a:ext cx="1532385" cy="614374"/>
              <a:chOff x="0" y="0"/>
              <a:chExt cx="5082536" cy="203772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082536" cy="2037724"/>
              </a:xfrm>
              <a:custGeom>
                <a:avLst/>
                <a:gdLst/>
                <a:ahLst/>
                <a:cxnLst/>
                <a:rect r="r" b="b" t="t" l="l"/>
                <a:pathLst>
                  <a:path h="2037724" w="5082536">
                    <a:moveTo>
                      <a:pt x="0" y="0"/>
                    </a:moveTo>
                    <a:lnTo>
                      <a:pt x="5082536" y="0"/>
                    </a:lnTo>
                    <a:lnTo>
                      <a:pt x="5082536" y="2037724"/>
                    </a:lnTo>
                    <a:lnTo>
                      <a:pt x="0" y="2037724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5082536" cy="20758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6"/>
                  </a:lnSpc>
                  <a:spcBef>
                    <a:spcPct val="0"/>
                  </a:spcBef>
                </a:pPr>
                <a:r>
                  <a:rPr lang="en-US" sz="1447">
                    <a:solidFill>
                      <a:srgbClr val="000000"/>
                    </a:solidFill>
                    <a:latin typeface="ABeeZee Bold"/>
                    <a:ea typeface="ABeeZee Bold"/>
                    <a:cs typeface="ABeeZee Bold"/>
                    <a:sym typeface="ABeeZee Bold"/>
                  </a:rPr>
                  <a:t>VEHICLE</a:t>
                </a:r>
              </a:p>
            </p:txBody>
          </p:sp>
        </p:grpSp>
        <p:sp>
          <p:nvSpPr>
            <p:cNvPr name="Freeform 18" id="18"/>
            <p:cNvSpPr/>
            <p:nvPr/>
          </p:nvSpPr>
          <p:spPr>
            <a:xfrm>
              <a:off x="6376357" y="6814736"/>
              <a:ext cx="1104424" cy="0"/>
            </a:xfrm>
            <a:custGeom>
              <a:avLst/>
              <a:gdLst/>
              <a:ahLst/>
              <a:cxnLst/>
              <a:rect r="r" b="b" t="t" l="l"/>
              <a:pathLst>
                <a:path h="0" w="1104424">
                  <a:moveTo>
                    <a:pt x="1104424" y="0"/>
                  </a:moveTo>
                  <a:lnTo>
                    <a:pt x="0" y="0"/>
                  </a:lnTo>
                </a:path>
              </a:pathLst>
            </a:custGeom>
            <a:ln cap="rnd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9" id="19"/>
            <p:cNvGrpSpPr/>
            <p:nvPr/>
          </p:nvGrpSpPr>
          <p:grpSpPr>
            <a:xfrm rot="0">
              <a:off x="6721961" y="6251666"/>
              <a:ext cx="1542687" cy="1126139"/>
              <a:chOff x="0" y="0"/>
              <a:chExt cx="1113447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11344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113447">
                    <a:moveTo>
                      <a:pt x="556723" y="0"/>
                    </a:moveTo>
                    <a:lnTo>
                      <a:pt x="1113447" y="406400"/>
                    </a:lnTo>
                    <a:lnTo>
                      <a:pt x="556723" y="812800"/>
                    </a:lnTo>
                    <a:lnTo>
                      <a:pt x="0" y="406400"/>
                    </a:lnTo>
                    <a:lnTo>
                      <a:pt x="556723" y="0"/>
                    </a:ln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91374" y="101600"/>
                <a:ext cx="730699" cy="57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6"/>
                  </a:lnSpc>
                  <a:spcBef>
                    <a:spcPct val="0"/>
                  </a:spcBef>
                </a:pPr>
                <a:r>
                  <a:rPr lang="en-US" sz="1447">
                    <a:solidFill>
                      <a:srgbClr val="000000"/>
                    </a:solidFill>
                    <a:latin typeface="ABeeZee Bold"/>
                    <a:ea typeface="ABeeZee Bold"/>
                    <a:cs typeface="ABeeZee Bold"/>
                    <a:sym typeface="ABeeZee Bold"/>
                  </a:rPr>
                  <a:t>HAS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842995" y="6507549"/>
              <a:ext cx="1532385" cy="614374"/>
              <a:chOff x="0" y="0"/>
              <a:chExt cx="5082536" cy="203772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5082536" cy="2037724"/>
              </a:xfrm>
              <a:custGeom>
                <a:avLst/>
                <a:gdLst/>
                <a:ahLst/>
                <a:cxnLst/>
                <a:rect r="r" b="b" t="t" l="l"/>
                <a:pathLst>
                  <a:path h="2037724" w="5082536">
                    <a:moveTo>
                      <a:pt x="0" y="0"/>
                    </a:moveTo>
                    <a:lnTo>
                      <a:pt x="5082536" y="0"/>
                    </a:lnTo>
                    <a:lnTo>
                      <a:pt x="5082536" y="2037724"/>
                    </a:lnTo>
                    <a:lnTo>
                      <a:pt x="0" y="2037724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5082536" cy="20758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6"/>
                  </a:lnSpc>
                  <a:spcBef>
                    <a:spcPct val="0"/>
                  </a:spcBef>
                </a:pPr>
                <a:r>
                  <a:rPr lang="en-US" sz="1447">
                    <a:solidFill>
                      <a:srgbClr val="000000"/>
                    </a:solidFill>
                    <a:latin typeface="ABeeZee Bold"/>
                    <a:ea typeface="ABeeZee Bold"/>
                    <a:cs typeface="ABeeZee Bold"/>
                    <a:sym typeface="ABeeZee Bold"/>
                  </a:rPr>
                  <a:t>CUSTOMER</a:t>
                </a:r>
              </a:p>
            </p:txBody>
          </p:sp>
        </p:grpSp>
        <p:sp>
          <p:nvSpPr>
            <p:cNvPr name="Freeform 25" id="25"/>
            <p:cNvSpPr/>
            <p:nvPr/>
          </p:nvSpPr>
          <p:spPr>
            <a:xfrm>
              <a:off x="2375381" y="6814736"/>
              <a:ext cx="1234296" cy="0"/>
            </a:xfrm>
            <a:custGeom>
              <a:avLst/>
              <a:gdLst/>
              <a:ahLst/>
              <a:cxnLst/>
              <a:rect r="r" b="b" t="t" l="l"/>
              <a:pathLst>
                <a:path h="0" w="1234296">
                  <a:moveTo>
                    <a:pt x="1234295" y="0"/>
                  </a:moveTo>
                  <a:lnTo>
                    <a:pt x="0" y="0"/>
                  </a:lnTo>
                </a:path>
              </a:pathLst>
            </a:custGeom>
            <a:ln cap="rnd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6" id="26"/>
            <p:cNvGrpSpPr/>
            <p:nvPr/>
          </p:nvGrpSpPr>
          <p:grpSpPr>
            <a:xfrm rot="0">
              <a:off x="0" y="5335771"/>
              <a:ext cx="1478493" cy="667655"/>
              <a:chOff x="0" y="0"/>
              <a:chExt cx="894618" cy="40399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94618" cy="403990"/>
              </a:xfrm>
              <a:custGeom>
                <a:avLst/>
                <a:gdLst/>
                <a:ahLst/>
                <a:cxnLst/>
                <a:rect r="r" b="b" t="t" l="l"/>
                <a:pathLst>
                  <a:path h="403990" w="894618">
                    <a:moveTo>
                      <a:pt x="447309" y="0"/>
                    </a:moveTo>
                    <a:cubicBezTo>
                      <a:pt x="200267" y="0"/>
                      <a:pt x="0" y="90436"/>
                      <a:pt x="0" y="201995"/>
                    </a:cubicBezTo>
                    <a:cubicBezTo>
                      <a:pt x="0" y="313554"/>
                      <a:pt x="200267" y="403990"/>
                      <a:pt x="447309" y="403990"/>
                    </a:cubicBezTo>
                    <a:cubicBezTo>
                      <a:pt x="694351" y="403990"/>
                      <a:pt x="894618" y="313554"/>
                      <a:pt x="894618" y="201995"/>
                    </a:cubicBezTo>
                    <a:cubicBezTo>
                      <a:pt x="894618" y="90436"/>
                      <a:pt x="694351" y="0"/>
                      <a:pt x="447309" y="0"/>
                    </a:cubicBez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83870" y="18824"/>
                <a:ext cx="726877" cy="3472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8"/>
                  </a:lnSpc>
                </a:pPr>
                <a:r>
                  <a:rPr lang="en-US" sz="1206" u="sng">
                    <a:solidFill>
                      <a:srgbClr val="000000"/>
                    </a:solidFill>
                    <a:latin typeface="ABeeZee"/>
                    <a:ea typeface="ABeeZee"/>
                    <a:cs typeface="ABeeZee"/>
                    <a:sym typeface="ABeeZee"/>
                  </a:rPr>
                  <a:t>customer_id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636134" y="5335771"/>
              <a:ext cx="1478493" cy="667655"/>
              <a:chOff x="0" y="0"/>
              <a:chExt cx="894618" cy="40399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94618" cy="403990"/>
              </a:xfrm>
              <a:custGeom>
                <a:avLst/>
                <a:gdLst/>
                <a:ahLst/>
                <a:cxnLst/>
                <a:rect r="r" b="b" t="t" l="l"/>
                <a:pathLst>
                  <a:path h="403990" w="894618">
                    <a:moveTo>
                      <a:pt x="447309" y="0"/>
                    </a:moveTo>
                    <a:cubicBezTo>
                      <a:pt x="200267" y="0"/>
                      <a:pt x="0" y="90436"/>
                      <a:pt x="0" y="201995"/>
                    </a:cubicBezTo>
                    <a:cubicBezTo>
                      <a:pt x="0" y="313554"/>
                      <a:pt x="200267" y="403990"/>
                      <a:pt x="447309" y="403990"/>
                    </a:cubicBezTo>
                    <a:cubicBezTo>
                      <a:pt x="694351" y="403990"/>
                      <a:pt x="894618" y="313554"/>
                      <a:pt x="894618" y="201995"/>
                    </a:cubicBezTo>
                    <a:cubicBezTo>
                      <a:pt x="894618" y="90436"/>
                      <a:pt x="694351" y="0"/>
                      <a:pt x="447309" y="0"/>
                    </a:cubicBez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83870" y="18824"/>
                <a:ext cx="726877" cy="3472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8"/>
                  </a:lnSpc>
                </a:pPr>
                <a:r>
                  <a:rPr lang="en-US" sz="1206">
                    <a:solidFill>
                      <a:srgbClr val="000000"/>
                    </a:solidFill>
                    <a:latin typeface="ABeeZee"/>
                    <a:ea typeface="ABeeZee"/>
                    <a:cs typeface="ABeeZee"/>
                    <a:sym typeface="ABeeZee"/>
                  </a:rPr>
                  <a:t>name</a:t>
                </a:r>
              </a:p>
            </p:txBody>
          </p:sp>
        </p:grpSp>
        <p:sp>
          <p:nvSpPr>
            <p:cNvPr name="AutoShape 32" id="32"/>
            <p:cNvSpPr/>
            <p:nvPr/>
          </p:nvSpPr>
          <p:spPr>
            <a:xfrm>
              <a:off x="739247" y="6003427"/>
              <a:ext cx="422671" cy="504122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3" id="33"/>
            <p:cNvSpPr/>
            <p:nvPr/>
          </p:nvSpPr>
          <p:spPr>
            <a:xfrm flipV="true">
              <a:off x="1756044" y="6003427"/>
              <a:ext cx="619337" cy="484202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4" id="34"/>
            <p:cNvGrpSpPr/>
            <p:nvPr/>
          </p:nvGrpSpPr>
          <p:grpSpPr>
            <a:xfrm rot="0">
              <a:off x="1756044" y="5372016"/>
              <a:ext cx="1478493" cy="667655"/>
              <a:chOff x="0" y="0"/>
              <a:chExt cx="894618" cy="40399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94618" cy="403990"/>
              </a:xfrm>
              <a:custGeom>
                <a:avLst/>
                <a:gdLst/>
                <a:ahLst/>
                <a:cxnLst/>
                <a:rect r="r" b="b" t="t" l="l"/>
                <a:pathLst>
                  <a:path h="403990" w="894618">
                    <a:moveTo>
                      <a:pt x="447309" y="0"/>
                    </a:moveTo>
                    <a:cubicBezTo>
                      <a:pt x="200267" y="0"/>
                      <a:pt x="0" y="90436"/>
                      <a:pt x="0" y="201995"/>
                    </a:cubicBezTo>
                    <a:cubicBezTo>
                      <a:pt x="0" y="313554"/>
                      <a:pt x="200267" y="403990"/>
                      <a:pt x="447309" y="403990"/>
                    </a:cubicBezTo>
                    <a:cubicBezTo>
                      <a:pt x="694351" y="403990"/>
                      <a:pt x="894618" y="313554"/>
                      <a:pt x="894618" y="201995"/>
                    </a:cubicBezTo>
                    <a:cubicBezTo>
                      <a:pt x="894618" y="90436"/>
                      <a:pt x="694351" y="0"/>
                      <a:pt x="447309" y="0"/>
                    </a:cubicBez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83870" y="18824"/>
                <a:ext cx="726877" cy="3472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8"/>
                  </a:lnSpc>
                </a:pPr>
                <a:r>
                  <a:rPr lang="en-US" sz="1206">
                    <a:solidFill>
                      <a:srgbClr val="000000"/>
                    </a:solidFill>
                    <a:latin typeface="ABeeZee"/>
                    <a:ea typeface="ABeeZee"/>
                    <a:cs typeface="ABeeZee"/>
                    <a:sym typeface="ABeeZee"/>
                  </a:rPr>
                  <a:t>name</a:t>
                </a: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3818785" y="5335771"/>
              <a:ext cx="1478493" cy="667655"/>
              <a:chOff x="0" y="0"/>
              <a:chExt cx="894618" cy="40399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94618" cy="403990"/>
              </a:xfrm>
              <a:custGeom>
                <a:avLst/>
                <a:gdLst/>
                <a:ahLst/>
                <a:cxnLst/>
                <a:rect r="r" b="b" t="t" l="l"/>
                <a:pathLst>
                  <a:path h="403990" w="894618">
                    <a:moveTo>
                      <a:pt x="447309" y="0"/>
                    </a:moveTo>
                    <a:cubicBezTo>
                      <a:pt x="200267" y="0"/>
                      <a:pt x="0" y="90436"/>
                      <a:pt x="0" y="201995"/>
                    </a:cubicBezTo>
                    <a:cubicBezTo>
                      <a:pt x="0" y="313554"/>
                      <a:pt x="200267" y="403990"/>
                      <a:pt x="447309" y="403990"/>
                    </a:cubicBezTo>
                    <a:cubicBezTo>
                      <a:pt x="694351" y="403990"/>
                      <a:pt x="894618" y="313554"/>
                      <a:pt x="894618" y="201995"/>
                    </a:cubicBezTo>
                    <a:cubicBezTo>
                      <a:pt x="894618" y="90436"/>
                      <a:pt x="694351" y="0"/>
                      <a:pt x="447309" y="0"/>
                    </a:cubicBez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83870" y="18824"/>
                <a:ext cx="726877" cy="3472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8"/>
                  </a:lnSpc>
                </a:pPr>
                <a:r>
                  <a:rPr lang="en-US" sz="1206" u="sng">
                    <a:solidFill>
                      <a:srgbClr val="000000"/>
                    </a:solidFill>
                    <a:latin typeface="ABeeZee"/>
                    <a:ea typeface="ABeeZee"/>
                    <a:cs typeface="ABeeZee"/>
                    <a:sym typeface="ABeeZee"/>
                  </a:rPr>
                  <a:t>vehicle_id</a:t>
                </a: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455545" y="5366816"/>
              <a:ext cx="1888038" cy="605566"/>
              <a:chOff x="0" y="0"/>
              <a:chExt cx="1142428" cy="366421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142428" cy="366421"/>
              </a:xfrm>
              <a:custGeom>
                <a:avLst/>
                <a:gdLst/>
                <a:ahLst/>
                <a:cxnLst/>
                <a:rect r="r" b="b" t="t" l="l"/>
                <a:pathLst>
                  <a:path h="366421" w="1142428">
                    <a:moveTo>
                      <a:pt x="571214" y="0"/>
                    </a:moveTo>
                    <a:cubicBezTo>
                      <a:pt x="255741" y="0"/>
                      <a:pt x="0" y="82026"/>
                      <a:pt x="0" y="183210"/>
                    </a:cubicBezTo>
                    <a:cubicBezTo>
                      <a:pt x="0" y="284395"/>
                      <a:pt x="255741" y="366421"/>
                      <a:pt x="571214" y="366421"/>
                    </a:cubicBezTo>
                    <a:cubicBezTo>
                      <a:pt x="886687" y="366421"/>
                      <a:pt x="1142428" y="284395"/>
                      <a:pt x="1142428" y="183210"/>
                    </a:cubicBezTo>
                    <a:cubicBezTo>
                      <a:pt x="1142428" y="82026"/>
                      <a:pt x="886687" y="0"/>
                      <a:pt x="571214" y="0"/>
                    </a:cubicBez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7103" y="15302"/>
                <a:ext cx="928223" cy="3167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8"/>
                  </a:lnSpc>
                </a:pPr>
                <a:r>
                  <a:rPr lang="en-US" sz="1206">
                    <a:solidFill>
                      <a:srgbClr val="000000"/>
                    </a:solidFill>
                    <a:latin typeface="ABeeZee"/>
                    <a:ea typeface="ABeeZee"/>
                    <a:cs typeface="ABeeZee"/>
                    <a:sym typeface="ABeeZee"/>
                  </a:rPr>
                  <a:t>registration_no</a:t>
                </a:r>
              </a:p>
            </p:txBody>
          </p:sp>
        </p:grpSp>
        <p:sp>
          <p:nvSpPr>
            <p:cNvPr name="AutoShape 43" id="43"/>
            <p:cNvSpPr/>
            <p:nvPr/>
          </p:nvSpPr>
          <p:spPr>
            <a:xfrm>
              <a:off x="4730867" y="5994253"/>
              <a:ext cx="580633" cy="474566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4" id="44"/>
            <p:cNvSpPr/>
            <p:nvPr/>
          </p:nvSpPr>
          <p:spPr>
            <a:xfrm flipV="true">
              <a:off x="5832717" y="5972382"/>
              <a:ext cx="566848" cy="592680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45" id="45"/>
            <p:cNvGrpSpPr/>
            <p:nvPr/>
          </p:nvGrpSpPr>
          <p:grpSpPr>
            <a:xfrm rot="0">
              <a:off x="7776267" y="5366816"/>
              <a:ext cx="1478493" cy="667655"/>
              <a:chOff x="0" y="0"/>
              <a:chExt cx="894618" cy="40399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94618" cy="403990"/>
              </a:xfrm>
              <a:custGeom>
                <a:avLst/>
                <a:gdLst/>
                <a:ahLst/>
                <a:cxnLst/>
                <a:rect r="r" b="b" t="t" l="l"/>
                <a:pathLst>
                  <a:path h="403990" w="894618">
                    <a:moveTo>
                      <a:pt x="447309" y="0"/>
                    </a:moveTo>
                    <a:cubicBezTo>
                      <a:pt x="200267" y="0"/>
                      <a:pt x="0" y="90436"/>
                      <a:pt x="0" y="201995"/>
                    </a:cubicBezTo>
                    <a:cubicBezTo>
                      <a:pt x="0" y="313554"/>
                      <a:pt x="200267" y="403990"/>
                      <a:pt x="447309" y="403990"/>
                    </a:cubicBezTo>
                    <a:cubicBezTo>
                      <a:pt x="694351" y="403990"/>
                      <a:pt x="894618" y="313554"/>
                      <a:pt x="894618" y="201995"/>
                    </a:cubicBezTo>
                    <a:cubicBezTo>
                      <a:pt x="894618" y="90436"/>
                      <a:pt x="694351" y="0"/>
                      <a:pt x="447309" y="0"/>
                    </a:cubicBez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83870" y="18824"/>
                <a:ext cx="726877" cy="3472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8"/>
                  </a:lnSpc>
                </a:pPr>
                <a:r>
                  <a:rPr lang="en-US" sz="1206" u="sng">
                    <a:solidFill>
                      <a:srgbClr val="000000"/>
                    </a:solidFill>
                    <a:latin typeface="ABeeZee"/>
                    <a:ea typeface="ABeeZee"/>
                    <a:cs typeface="ABeeZee"/>
                    <a:sym typeface="ABeeZee"/>
                  </a:rPr>
                  <a:t>booking_id</a:t>
                </a: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9380620" y="5372016"/>
              <a:ext cx="1890032" cy="631410"/>
              <a:chOff x="0" y="0"/>
              <a:chExt cx="1143634" cy="382059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143634" cy="382059"/>
              </a:xfrm>
              <a:custGeom>
                <a:avLst/>
                <a:gdLst/>
                <a:ahLst/>
                <a:cxnLst/>
                <a:rect r="r" b="b" t="t" l="l"/>
                <a:pathLst>
                  <a:path h="382059" w="1143634">
                    <a:moveTo>
                      <a:pt x="571817" y="0"/>
                    </a:moveTo>
                    <a:cubicBezTo>
                      <a:pt x="256011" y="0"/>
                      <a:pt x="0" y="85527"/>
                      <a:pt x="0" y="191029"/>
                    </a:cubicBezTo>
                    <a:cubicBezTo>
                      <a:pt x="0" y="296532"/>
                      <a:pt x="256011" y="382059"/>
                      <a:pt x="571817" y="382059"/>
                    </a:cubicBezTo>
                    <a:cubicBezTo>
                      <a:pt x="887623" y="382059"/>
                      <a:pt x="1143634" y="296532"/>
                      <a:pt x="1143634" y="191029"/>
                    </a:cubicBezTo>
                    <a:cubicBezTo>
                      <a:pt x="1143634" y="85527"/>
                      <a:pt x="887623" y="0"/>
                      <a:pt x="571817" y="0"/>
                    </a:cubicBez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7216" y="16768"/>
                <a:ext cx="929203" cy="3294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8"/>
                  </a:lnSpc>
                </a:pPr>
                <a:r>
                  <a:rPr lang="en-US" sz="1206">
                    <a:solidFill>
                      <a:srgbClr val="000000"/>
                    </a:solidFill>
                    <a:latin typeface="ABeeZee"/>
                    <a:ea typeface="ABeeZee"/>
                    <a:cs typeface="ABeeZee"/>
                    <a:sym typeface="ABeeZee"/>
                  </a:rPr>
                  <a:t>service_date</a:t>
                </a:r>
              </a:p>
            </p:txBody>
          </p:sp>
        </p:grpSp>
        <p:sp>
          <p:nvSpPr>
            <p:cNvPr name="AutoShape 51" id="51"/>
            <p:cNvSpPr/>
            <p:nvPr/>
          </p:nvSpPr>
          <p:spPr>
            <a:xfrm>
              <a:off x="8672512" y="6005403"/>
              <a:ext cx="580633" cy="474566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2" id="52"/>
            <p:cNvSpPr/>
            <p:nvPr/>
          </p:nvSpPr>
          <p:spPr>
            <a:xfrm flipV="true">
              <a:off x="9689288" y="5996946"/>
              <a:ext cx="467387" cy="467387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53" id="53"/>
            <p:cNvGrpSpPr/>
            <p:nvPr/>
          </p:nvGrpSpPr>
          <p:grpSpPr>
            <a:xfrm rot="0">
              <a:off x="9286053" y="2983344"/>
              <a:ext cx="1810926" cy="1126139"/>
              <a:chOff x="0" y="0"/>
              <a:chExt cx="1307051" cy="8128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130705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307051">
                    <a:moveTo>
                      <a:pt x="653525" y="0"/>
                    </a:moveTo>
                    <a:lnTo>
                      <a:pt x="1307051" y="406400"/>
                    </a:lnTo>
                    <a:lnTo>
                      <a:pt x="653525" y="812800"/>
                    </a:lnTo>
                    <a:lnTo>
                      <a:pt x="0" y="406400"/>
                    </a:lnTo>
                    <a:lnTo>
                      <a:pt x="653525" y="0"/>
                    </a:ln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224649" y="101600"/>
                <a:ext cx="857752" cy="57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6"/>
                  </a:lnSpc>
                  <a:spcBef>
                    <a:spcPct val="0"/>
                  </a:spcBef>
                </a:pPr>
                <a:r>
                  <a:rPr lang="en-US" sz="1447">
                    <a:solidFill>
                      <a:srgbClr val="000000"/>
                    </a:solidFill>
                    <a:latin typeface="ABeeZee Bold"/>
                    <a:ea typeface="ABeeZee Bold"/>
                    <a:cs typeface="ABeeZee Bold"/>
                    <a:sym typeface="ABeeZee Bold"/>
                  </a:rPr>
                  <a:t>INCLUDES</a:t>
                </a:r>
              </a:p>
            </p:txBody>
          </p:sp>
        </p:grpSp>
        <p:sp>
          <p:nvSpPr>
            <p:cNvPr name="AutoShape 56" id="56"/>
            <p:cNvSpPr/>
            <p:nvPr/>
          </p:nvSpPr>
          <p:spPr>
            <a:xfrm>
              <a:off x="10191516" y="4109483"/>
              <a:ext cx="2610718" cy="2398066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57" id="57"/>
            <p:cNvGrpSpPr/>
            <p:nvPr/>
          </p:nvGrpSpPr>
          <p:grpSpPr>
            <a:xfrm rot="0">
              <a:off x="9438515" y="1476862"/>
              <a:ext cx="1532385" cy="614374"/>
              <a:chOff x="0" y="0"/>
              <a:chExt cx="5082536" cy="2037724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5082536" cy="2037724"/>
              </a:xfrm>
              <a:custGeom>
                <a:avLst/>
                <a:gdLst/>
                <a:ahLst/>
                <a:cxnLst/>
                <a:rect r="r" b="b" t="t" l="l"/>
                <a:pathLst>
                  <a:path h="2037724" w="5082536">
                    <a:moveTo>
                      <a:pt x="0" y="0"/>
                    </a:moveTo>
                    <a:lnTo>
                      <a:pt x="5082536" y="0"/>
                    </a:lnTo>
                    <a:lnTo>
                      <a:pt x="5082536" y="2037724"/>
                    </a:lnTo>
                    <a:lnTo>
                      <a:pt x="0" y="2037724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38100"/>
                <a:ext cx="5082536" cy="20758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6"/>
                  </a:lnSpc>
                  <a:spcBef>
                    <a:spcPct val="0"/>
                  </a:spcBef>
                </a:pPr>
                <a:r>
                  <a:rPr lang="en-US" sz="1447">
                    <a:solidFill>
                      <a:srgbClr val="000000"/>
                    </a:solidFill>
                    <a:latin typeface="ABeeZee Bold"/>
                    <a:ea typeface="ABeeZee Bold"/>
                    <a:cs typeface="ABeeZee Bold"/>
                    <a:sym typeface="ABeeZee Bold"/>
                  </a:rPr>
                  <a:t>INSPECTION</a:t>
                </a: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8380420" y="36055"/>
              <a:ext cx="1611971" cy="667655"/>
              <a:chOff x="0" y="0"/>
              <a:chExt cx="975383" cy="40399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975383" cy="403990"/>
              </a:xfrm>
              <a:custGeom>
                <a:avLst/>
                <a:gdLst/>
                <a:ahLst/>
                <a:cxnLst/>
                <a:rect r="r" b="b" t="t" l="l"/>
                <a:pathLst>
                  <a:path h="403990" w="975383">
                    <a:moveTo>
                      <a:pt x="487692" y="0"/>
                    </a:moveTo>
                    <a:cubicBezTo>
                      <a:pt x="218347" y="0"/>
                      <a:pt x="0" y="90436"/>
                      <a:pt x="0" y="201995"/>
                    </a:cubicBezTo>
                    <a:cubicBezTo>
                      <a:pt x="0" y="313554"/>
                      <a:pt x="218347" y="403990"/>
                      <a:pt x="487692" y="403990"/>
                    </a:cubicBezTo>
                    <a:cubicBezTo>
                      <a:pt x="757036" y="403990"/>
                      <a:pt x="975383" y="313554"/>
                      <a:pt x="975383" y="201995"/>
                    </a:cubicBezTo>
                    <a:cubicBezTo>
                      <a:pt x="975383" y="90436"/>
                      <a:pt x="757036" y="0"/>
                      <a:pt x="487692" y="0"/>
                    </a:cubicBez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91442" y="18824"/>
                <a:ext cx="792499" cy="3472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8"/>
                  </a:lnSpc>
                </a:pPr>
                <a:r>
                  <a:rPr lang="en-US" sz="1206" u="sng">
                    <a:solidFill>
                      <a:srgbClr val="000000"/>
                    </a:solidFill>
                    <a:latin typeface="ABeeZee"/>
                    <a:ea typeface="ABeeZee"/>
                    <a:cs typeface="ABeeZee"/>
                    <a:sym typeface="ABeeZee"/>
                  </a:rPr>
                  <a:t>inspection_id</a:t>
                </a: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10146812" y="0"/>
              <a:ext cx="1478493" cy="667655"/>
              <a:chOff x="0" y="0"/>
              <a:chExt cx="894618" cy="40399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894618" cy="403990"/>
              </a:xfrm>
              <a:custGeom>
                <a:avLst/>
                <a:gdLst/>
                <a:ahLst/>
                <a:cxnLst/>
                <a:rect r="r" b="b" t="t" l="l"/>
                <a:pathLst>
                  <a:path h="403990" w="894618">
                    <a:moveTo>
                      <a:pt x="447309" y="0"/>
                    </a:moveTo>
                    <a:cubicBezTo>
                      <a:pt x="200267" y="0"/>
                      <a:pt x="0" y="90436"/>
                      <a:pt x="0" y="201995"/>
                    </a:cubicBezTo>
                    <a:cubicBezTo>
                      <a:pt x="0" y="313554"/>
                      <a:pt x="200267" y="403990"/>
                      <a:pt x="447309" y="403990"/>
                    </a:cubicBezTo>
                    <a:cubicBezTo>
                      <a:pt x="694351" y="403990"/>
                      <a:pt x="894618" y="313554"/>
                      <a:pt x="894618" y="201995"/>
                    </a:cubicBezTo>
                    <a:cubicBezTo>
                      <a:pt x="894618" y="90436"/>
                      <a:pt x="694351" y="0"/>
                      <a:pt x="447309" y="0"/>
                    </a:cubicBez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83870" y="18824"/>
                <a:ext cx="726877" cy="3472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8"/>
                  </a:lnSpc>
                </a:pPr>
                <a:r>
                  <a:rPr lang="en-US" sz="1206">
                    <a:solidFill>
                      <a:srgbClr val="000000"/>
                    </a:solidFill>
                    <a:latin typeface="ABeeZee"/>
                    <a:ea typeface="ABeeZee"/>
                    <a:cs typeface="ABeeZee"/>
                    <a:sym typeface="ABeeZee"/>
                  </a:rPr>
                  <a:t>findings</a:t>
                </a: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12439414" y="2420274"/>
              <a:ext cx="1532385" cy="614374"/>
              <a:chOff x="0" y="0"/>
              <a:chExt cx="5082536" cy="2037724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5082536" cy="2037724"/>
              </a:xfrm>
              <a:custGeom>
                <a:avLst/>
                <a:gdLst/>
                <a:ahLst/>
                <a:cxnLst/>
                <a:rect r="r" b="b" t="t" l="l"/>
                <a:pathLst>
                  <a:path h="2037724" w="5082536">
                    <a:moveTo>
                      <a:pt x="0" y="0"/>
                    </a:moveTo>
                    <a:lnTo>
                      <a:pt x="5082536" y="0"/>
                    </a:lnTo>
                    <a:lnTo>
                      <a:pt x="5082536" y="2037724"/>
                    </a:lnTo>
                    <a:lnTo>
                      <a:pt x="0" y="2037724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-38100"/>
                <a:ext cx="5082536" cy="20758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6"/>
                  </a:lnSpc>
                  <a:spcBef>
                    <a:spcPct val="0"/>
                  </a:spcBef>
                </a:pPr>
                <a:r>
                  <a:rPr lang="en-US" sz="1447">
                    <a:solidFill>
                      <a:srgbClr val="000000"/>
                    </a:solidFill>
                    <a:latin typeface="ABeeZee Bold"/>
                    <a:ea typeface="ABeeZee Bold"/>
                    <a:cs typeface="ABeeZee Bold"/>
                    <a:sym typeface="ABeeZee Bold"/>
                  </a:rPr>
                  <a:t>TASK</a:t>
                </a:r>
              </a:p>
            </p:txBody>
          </p:sp>
        </p:grpSp>
        <p:sp>
          <p:nvSpPr>
            <p:cNvPr name="Freeform 69" id="69"/>
            <p:cNvSpPr/>
            <p:nvPr/>
          </p:nvSpPr>
          <p:spPr>
            <a:xfrm>
              <a:off x="13205608" y="3034648"/>
              <a:ext cx="0" cy="3472900"/>
            </a:xfrm>
            <a:custGeom>
              <a:avLst/>
              <a:gdLst/>
              <a:ahLst/>
              <a:cxnLst/>
              <a:rect r="r" b="b" t="t" l="l"/>
              <a:pathLst>
                <a:path h="3472900" w="0">
                  <a:moveTo>
                    <a:pt x="0" y="3472901"/>
                  </a:moveTo>
                  <a:lnTo>
                    <a:pt x="0" y="0"/>
                  </a:lnTo>
                </a:path>
              </a:pathLst>
            </a:custGeom>
            <a:ln cap="rnd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70" id="70"/>
            <p:cNvGrpSpPr/>
            <p:nvPr/>
          </p:nvGrpSpPr>
          <p:grpSpPr>
            <a:xfrm rot="0">
              <a:off x="17234552" y="6507549"/>
              <a:ext cx="1532385" cy="614374"/>
              <a:chOff x="0" y="0"/>
              <a:chExt cx="5082536" cy="2037724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5082536" cy="2037724"/>
              </a:xfrm>
              <a:custGeom>
                <a:avLst/>
                <a:gdLst/>
                <a:ahLst/>
                <a:cxnLst/>
                <a:rect r="r" b="b" t="t" l="l"/>
                <a:pathLst>
                  <a:path h="2037724" w="5082536">
                    <a:moveTo>
                      <a:pt x="0" y="0"/>
                    </a:moveTo>
                    <a:lnTo>
                      <a:pt x="5082536" y="0"/>
                    </a:lnTo>
                    <a:lnTo>
                      <a:pt x="5082536" y="2037724"/>
                    </a:lnTo>
                    <a:lnTo>
                      <a:pt x="0" y="2037724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-38100"/>
                <a:ext cx="5082536" cy="20758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6"/>
                  </a:lnSpc>
                  <a:spcBef>
                    <a:spcPct val="0"/>
                  </a:spcBef>
                </a:pPr>
                <a:r>
                  <a:rPr lang="en-US" sz="1447">
                    <a:solidFill>
                      <a:srgbClr val="000000"/>
                    </a:solidFill>
                    <a:latin typeface="ABeeZee Bold"/>
                    <a:ea typeface="ABeeZee Bold"/>
                    <a:cs typeface="ABeeZee Bold"/>
                    <a:sym typeface="ABeeZee Bold"/>
                  </a:rPr>
                  <a:t>INVOICE</a:t>
                </a:r>
              </a:p>
            </p:txBody>
          </p:sp>
        </p:grpSp>
        <p:sp>
          <p:nvSpPr>
            <p:cNvPr name="Freeform 73" id="73"/>
            <p:cNvSpPr/>
            <p:nvPr/>
          </p:nvSpPr>
          <p:spPr>
            <a:xfrm>
              <a:off x="15603176" y="6814736"/>
              <a:ext cx="1631376" cy="0"/>
            </a:xfrm>
            <a:custGeom>
              <a:avLst/>
              <a:gdLst/>
              <a:ahLst/>
              <a:cxnLst/>
              <a:rect r="r" b="b" t="t" l="l"/>
              <a:pathLst>
                <a:path h="0" w="1631376">
                  <a:moveTo>
                    <a:pt x="0" y="0"/>
                  </a:moveTo>
                  <a:lnTo>
                    <a:pt x="1631377" y="0"/>
                  </a:lnTo>
                </a:path>
              </a:pathLst>
            </a:custGeom>
            <a:ln cap="rnd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74" id="74"/>
            <p:cNvGrpSpPr/>
            <p:nvPr/>
          </p:nvGrpSpPr>
          <p:grpSpPr>
            <a:xfrm rot="0">
              <a:off x="21863922" y="6507549"/>
              <a:ext cx="1532385" cy="614374"/>
              <a:chOff x="0" y="0"/>
              <a:chExt cx="5082536" cy="2037724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5082536" cy="2037724"/>
              </a:xfrm>
              <a:custGeom>
                <a:avLst/>
                <a:gdLst/>
                <a:ahLst/>
                <a:cxnLst/>
                <a:rect r="r" b="b" t="t" l="l"/>
                <a:pathLst>
                  <a:path h="2037724" w="5082536">
                    <a:moveTo>
                      <a:pt x="0" y="0"/>
                    </a:moveTo>
                    <a:lnTo>
                      <a:pt x="5082536" y="0"/>
                    </a:lnTo>
                    <a:lnTo>
                      <a:pt x="5082536" y="2037724"/>
                    </a:lnTo>
                    <a:lnTo>
                      <a:pt x="0" y="2037724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38100"/>
                <a:ext cx="5082536" cy="20758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6"/>
                  </a:lnSpc>
                  <a:spcBef>
                    <a:spcPct val="0"/>
                  </a:spcBef>
                </a:pPr>
                <a:r>
                  <a:rPr lang="en-US" sz="1447">
                    <a:solidFill>
                      <a:srgbClr val="000000"/>
                    </a:solidFill>
                    <a:latin typeface="ABeeZee Bold"/>
                    <a:ea typeface="ABeeZee Bold"/>
                    <a:cs typeface="ABeeZee Bold"/>
                    <a:sym typeface="ABeeZee Bold"/>
                  </a:rPr>
                  <a:t>PAYMENT</a:t>
                </a:r>
              </a:p>
            </p:txBody>
          </p:sp>
        </p:grpSp>
        <p:sp>
          <p:nvSpPr>
            <p:cNvPr name="Freeform 77" id="77"/>
            <p:cNvSpPr/>
            <p:nvPr/>
          </p:nvSpPr>
          <p:spPr>
            <a:xfrm>
              <a:off x="20315430" y="6814736"/>
              <a:ext cx="1548493" cy="0"/>
            </a:xfrm>
            <a:custGeom>
              <a:avLst/>
              <a:gdLst/>
              <a:ahLst/>
              <a:cxnLst/>
              <a:rect r="r" b="b" t="t" l="l"/>
              <a:pathLst>
                <a:path h="0" w="1548493">
                  <a:moveTo>
                    <a:pt x="0" y="0"/>
                  </a:moveTo>
                  <a:lnTo>
                    <a:pt x="1548493" y="0"/>
                  </a:lnTo>
                </a:path>
              </a:pathLst>
            </a:custGeom>
            <a:ln cap="rnd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78" id="78"/>
            <p:cNvGrpSpPr/>
            <p:nvPr/>
          </p:nvGrpSpPr>
          <p:grpSpPr>
            <a:xfrm rot="0">
              <a:off x="11868322" y="1029299"/>
              <a:ext cx="1478493" cy="667655"/>
              <a:chOff x="0" y="0"/>
              <a:chExt cx="894618" cy="403990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894618" cy="403990"/>
              </a:xfrm>
              <a:custGeom>
                <a:avLst/>
                <a:gdLst/>
                <a:ahLst/>
                <a:cxnLst/>
                <a:rect r="r" b="b" t="t" l="l"/>
                <a:pathLst>
                  <a:path h="403990" w="894618">
                    <a:moveTo>
                      <a:pt x="447309" y="0"/>
                    </a:moveTo>
                    <a:cubicBezTo>
                      <a:pt x="200267" y="0"/>
                      <a:pt x="0" y="90436"/>
                      <a:pt x="0" y="201995"/>
                    </a:cubicBezTo>
                    <a:cubicBezTo>
                      <a:pt x="0" y="313554"/>
                      <a:pt x="200267" y="403990"/>
                      <a:pt x="447309" y="403990"/>
                    </a:cubicBezTo>
                    <a:cubicBezTo>
                      <a:pt x="694351" y="403990"/>
                      <a:pt x="894618" y="313554"/>
                      <a:pt x="894618" y="201995"/>
                    </a:cubicBezTo>
                    <a:cubicBezTo>
                      <a:pt x="894618" y="90436"/>
                      <a:pt x="694351" y="0"/>
                      <a:pt x="447309" y="0"/>
                    </a:cubicBez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80" id="80"/>
              <p:cNvSpPr txBox="true"/>
              <p:nvPr/>
            </p:nvSpPr>
            <p:spPr>
              <a:xfrm>
                <a:off x="83870" y="18824"/>
                <a:ext cx="726877" cy="3472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8"/>
                  </a:lnSpc>
                </a:pPr>
                <a:r>
                  <a:rPr lang="en-US" sz="1206" u="sng">
                    <a:solidFill>
                      <a:srgbClr val="000000"/>
                    </a:solidFill>
                    <a:latin typeface="ABeeZee"/>
                    <a:ea typeface="ABeeZee"/>
                    <a:cs typeface="ABeeZee"/>
                    <a:sym typeface="ABeeZee"/>
                  </a:rPr>
                  <a:t>task_id</a:t>
                </a:r>
              </a:p>
            </p:txBody>
          </p:sp>
        </p:grpSp>
        <p:grpSp>
          <p:nvGrpSpPr>
            <p:cNvPr name="Group 81" id="81"/>
            <p:cNvGrpSpPr/>
            <p:nvPr/>
          </p:nvGrpSpPr>
          <p:grpSpPr>
            <a:xfrm rot="0">
              <a:off x="13481728" y="1029299"/>
              <a:ext cx="1478493" cy="667655"/>
              <a:chOff x="0" y="0"/>
              <a:chExt cx="894618" cy="403990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894618" cy="403990"/>
              </a:xfrm>
              <a:custGeom>
                <a:avLst/>
                <a:gdLst/>
                <a:ahLst/>
                <a:cxnLst/>
                <a:rect r="r" b="b" t="t" l="l"/>
                <a:pathLst>
                  <a:path h="403990" w="894618">
                    <a:moveTo>
                      <a:pt x="447309" y="0"/>
                    </a:moveTo>
                    <a:cubicBezTo>
                      <a:pt x="200267" y="0"/>
                      <a:pt x="0" y="90436"/>
                      <a:pt x="0" y="201995"/>
                    </a:cubicBezTo>
                    <a:cubicBezTo>
                      <a:pt x="0" y="313554"/>
                      <a:pt x="200267" y="403990"/>
                      <a:pt x="447309" y="403990"/>
                    </a:cubicBezTo>
                    <a:cubicBezTo>
                      <a:pt x="694351" y="403990"/>
                      <a:pt x="894618" y="313554"/>
                      <a:pt x="894618" y="201995"/>
                    </a:cubicBezTo>
                    <a:cubicBezTo>
                      <a:pt x="894618" y="90436"/>
                      <a:pt x="694351" y="0"/>
                      <a:pt x="447309" y="0"/>
                    </a:cubicBez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83870" y="18824"/>
                <a:ext cx="726877" cy="3472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8"/>
                  </a:lnSpc>
                </a:pPr>
                <a:r>
                  <a:rPr lang="en-US" sz="1206">
                    <a:solidFill>
                      <a:srgbClr val="000000"/>
                    </a:solidFill>
                    <a:latin typeface="ABeeZee"/>
                    <a:ea typeface="ABeeZee"/>
                    <a:cs typeface="ABeeZee"/>
                    <a:sym typeface="ABeeZee"/>
                  </a:rPr>
                  <a:t>description</a:t>
                </a:r>
              </a:p>
            </p:txBody>
          </p:sp>
        </p:grpSp>
        <p:grpSp>
          <p:nvGrpSpPr>
            <p:cNvPr name="Group 84" id="84"/>
            <p:cNvGrpSpPr/>
            <p:nvPr/>
          </p:nvGrpSpPr>
          <p:grpSpPr>
            <a:xfrm rot="0">
              <a:off x="16564337" y="2420274"/>
              <a:ext cx="1688037" cy="614374"/>
              <a:chOff x="0" y="0"/>
              <a:chExt cx="5598794" cy="2037724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5598794" cy="2037724"/>
              </a:xfrm>
              <a:custGeom>
                <a:avLst/>
                <a:gdLst/>
                <a:ahLst/>
                <a:cxnLst/>
                <a:rect r="r" b="b" t="t" l="l"/>
                <a:pathLst>
                  <a:path h="2037724" w="5598794">
                    <a:moveTo>
                      <a:pt x="0" y="0"/>
                    </a:moveTo>
                    <a:lnTo>
                      <a:pt x="5598794" y="0"/>
                    </a:lnTo>
                    <a:lnTo>
                      <a:pt x="5598794" y="2037724"/>
                    </a:lnTo>
                    <a:lnTo>
                      <a:pt x="0" y="2037724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</p:sp>
          <p:sp>
            <p:nvSpPr>
              <p:cNvPr name="TextBox 86" id="86"/>
              <p:cNvSpPr txBox="true"/>
              <p:nvPr/>
            </p:nvSpPr>
            <p:spPr>
              <a:xfrm>
                <a:off x="0" y="-38100"/>
                <a:ext cx="5598794" cy="20758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6"/>
                  </a:lnSpc>
                  <a:spcBef>
                    <a:spcPct val="0"/>
                  </a:spcBef>
                </a:pPr>
                <a:r>
                  <a:rPr lang="en-US" sz="1447">
                    <a:solidFill>
                      <a:srgbClr val="000000"/>
                    </a:solidFill>
                    <a:latin typeface="ABeeZee Bold"/>
                    <a:ea typeface="ABeeZee Bold"/>
                    <a:cs typeface="ABeeZee Bold"/>
                    <a:sym typeface="ABeeZee Bold"/>
                  </a:rPr>
                  <a:t>ASSIGNMENT</a:t>
                </a:r>
              </a:p>
            </p:txBody>
          </p:sp>
        </p:grpSp>
        <p:sp>
          <p:nvSpPr>
            <p:cNvPr name="Freeform 87" id="87"/>
            <p:cNvSpPr/>
            <p:nvPr/>
          </p:nvSpPr>
          <p:spPr>
            <a:xfrm>
              <a:off x="15268068" y="2727461"/>
              <a:ext cx="1296270" cy="0"/>
            </a:xfrm>
            <a:custGeom>
              <a:avLst/>
              <a:gdLst/>
              <a:ahLst/>
              <a:cxnLst/>
              <a:rect r="r" b="b" t="t" l="l"/>
              <a:pathLst>
                <a:path h="0" w="1296270">
                  <a:moveTo>
                    <a:pt x="0" y="0"/>
                  </a:moveTo>
                  <a:lnTo>
                    <a:pt x="1296270" y="0"/>
                  </a:lnTo>
                </a:path>
              </a:pathLst>
            </a:custGeom>
            <a:ln cap="rnd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88" id="88"/>
            <p:cNvGrpSpPr/>
            <p:nvPr/>
          </p:nvGrpSpPr>
          <p:grpSpPr>
            <a:xfrm rot="0">
              <a:off x="14331706" y="2287460"/>
              <a:ext cx="1704248" cy="880002"/>
              <a:chOff x="0" y="0"/>
              <a:chExt cx="1230055" cy="635149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1230055" cy="635149"/>
              </a:xfrm>
              <a:custGeom>
                <a:avLst/>
                <a:gdLst/>
                <a:ahLst/>
                <a:cxnLst/>
                <a:rect r="r" b="b" t="t" l="l"/>
                <a:pathLst>
                  <a:path h="635149" w="1230055">
                    <a:moveTo>
                      <a:pt x="615027" y="0"/>
                    </a:moveTo>
                    <a:lnTo>
                      <a:pt x="1230055" y="317574"/>
                    </a:lnTo>
                    <a:lnTo>
                      <a:pt x="615027" y="635149"/>
                    </a:lnTo>
                    <a:lnTo>
                      <a:pt x="0" y="317574"/>
                    </a:lnTo>
                    <a:lnTo>
                      <a:pt x="615027" y="0"/>
                    </a:ln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211416" y="71066"/>
                <a:ext cx="807223" cy="45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6"/>
                  </a:lnSpc>
                  <a:spcBef>
                    <a:spcPct val="0"/>
                  </a:spcBef>
                </a:pPr>
                <a:r>
                  <a:rPr lang="en-US" sz="1447">
                    <a:solidFill>
                      <a:srgbClr val="000000"/>
                    </a:solidFill>
                    <a:latin typeface="ABeeZee Bold"/>
                    <a:ea typeface="ABeeZee Bold"/>
                    <a:cs typeface="ABeeZee Bold"/>
                    <a:sym typeface="ABeeZee Bold"/>
                  </a:rPr>
                  <a:t>HAS</a:t>
                </a: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21445675" y="2420274"/>
              <a:ext cx="1688037" cy="614374"/>
              <a:chOff x="0" y="0"/>
              <a:chExt cx="5598794" cy="2037724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5598794" cy="2037724"/>
              </a:xfrm>
              <a:custGeom>
                <a:avLst/>
                <a:gdLst/>
                <a:ahLst/>
                <a:cxnLst/>
                <a:rect r="r" b="b" t="t" l="l"/>
                <a:pathLst>
                  <a:path h="2037724" w="5598794">
                    <a:moveTo>
                      <a:pt x="0" y="0"/>
                    </a:moveTo>
                    <a:lnTo>
                      <a:pt x="5598794" y="0"/>
                    </a:lnTo>
                    <a:lnTo>
                      <a:pt x="5598794" y="2037724"/>
                    </a:lnTo>
                    <a:lnTo>
                      <a:pt x="0" y="2037724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-38100"/>
                <a:ext cx="5598794" cy="20758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6"/>
                  </a:lnSpc>
                  <a:spcBef>
                    <a:spcPct val="0"/>
                  </a:spcBef>
                </a:pPr>
                <a:r>
                  <a:rPr lang="en-US" sz="1447">
                    <a:solidFill>
                      <a:srgbClr val="000000"/>
                    </a:solidFill>
                    <a:latin typeface="ABeeZee Bold"/>
                    <a:ea typeface="ABeeZee Bold"/>
                    <a:cs typeface="ABeeZee Bold"/>
                    <a:sym typeface="ABeeZee Bold"/>
                  </a:rPr>
                  <a:t>MECHANIC</a:t>
                </a:r>
              </a:p>
            </p:txBody>
          </p:sp>
        </p:grpSp>
        <p:sp>
          <p:nvSpPr>
            <p:cNvPr name="Freeform 94" id="94"/>
            <p:cNvSpPr/>
            <p:nvPr/>
          </p:nvSpPr>
          <p:spPr>
            <a:xfrm>
              <a:off x="19849026" y="2727461"/>
              <a:ext cx="1596650" cy="0"/>
            </a:xfrm>
            <a:custGeom>
              <a:avLst/>
              <a:gdLst/>
              <a:ahLst/>
              <a:cxnLst/>
              <a:rect r="r" b="b" t="t" l="l"/>
              <a:pathLst>
                <a:path h="0" w="1596650">
                  <a:moveTo>
                    <a:pt x="0" y="0"/>
                  </a:moveTo>
                  <a:lnTo>
                    <a:pt x="1596649" y="0"/>
                  </a:lnTo>
                </a:path>
              </a:pathLst>
            </a:custGeom>
            <a:ln cap="rnd" w="25527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95" id="95"/>
            <p:cNvGrpSpPr/>
            <p:nvPr/>
          </p:nvGrpSpPr>
          <p:grpSpPr>
            <a:xfrm rot="0">
              <a:off x="18745463" y="2196204"/>
              <a:ext cx="2207123" cy="1062515"/>
              <a:chOff x="0" y="0"/>
              <a:chExt cx="1593009" cy="766879"/>
            </a:xfrm>
          </p:grpSpPr>
          <p:sp>
            <p:nvSpPr>
              <p:cNvPr name="Freeform 96" id="96"/>
              <p:cNvSpPr/>
              <p:nvPr/>
            </p:nvSpPr>
            <p:spPr>
              <a:xfrm flipH="false" flipV="false" rot="0">
                <a:off x="0" y="0"/>
                <a:ext cx="1593009" cy="766879"/>
              </a:xfrm>
              <a:custGeom>
                <a:avLst/>
                <a:gdLst/>
                <a:ahLst/>
                <a:cxnLst/>
                <a:rect r="r" b="b" t="t" l="l"/>
                <a:pathLst>
                  <a:path h="766879" w="1593009">
                    <a:moveTo>
                      <a:pt x="796505" y="0"/>
                    </a:moveTo>
                    <a:lnTo>
                      <a:pt x="1593009" y="383439"/>
                    </a:lnTo>
                    <a:lnTo>
                      <a:pt x="796505" y="766879"/>
                    </a:lnTo>
                    <a:lnTo>
                      <a:pt x="0" y="383439"/>
                    </a:lnTo>
                    <a:lnTo>
                      <a:pt x="796505" y="0"/>
                    </a:ln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97" id="97"/>
              <p:cNvSpPr txBox="true"/>
              <p:nvPr/>
            </p:nvSpPr>
            <p:spPr>
              <a:xfrm>
                <a:off x="273798" y="93707"/>
                <a:ext cx="1045412" cy="5413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6"/>
                  </a:lnSpc>
                  <a:spcBef>
                    <a:spcPct val="0"/>
                  </a:spcBef>
                </a:pPr>
                <a:r>
                  <a:rPr lang="en-US" sz="1447">
                    <a:solidFill>
                      <a:srgbClr val="000000"/>
                    </a:solidFill>
                    <a:latin typeface="ABeeZee Bold"/>
                    <a:ea typeface="ABeeZee Bold"/>
                    <a:cs typeface="ABeeZee Bold"/>
                    <a:sym typeface="ABeeZee Bold"/>
                  </a:rPr>
                  <a:t>ASSIGNED TO </a:t>
                </a:r>
              </a:p>
            </p:txBody>
          </p:sp>
        </p:grpSp>
        <p:grpSp>
          <p:nvGrpSpPr>
            <p:cNvPr name="Group 98" id="98"/>
            <p:cNvGrpSpPr/>
            <p:nvPr/>
          </p:nvGrpSpPr>
          <p:grpSpPr>
            <a:xfrm rot="0">
              <a:off x="15355853" y="1055143"/>
              <a:ext cx="1830109" cy="667655"/>
              <a:chOff x="0" y="0"/>
              <a:chExt cx="1107376" cy="403990"/>
            </a:xfrm>
          </p:grpSpPr>
          <p:sp>
            <p:nvSpPr>
              <p:cNvPr name="Freeform 99" id="99"/>
              <p:cNvSpPr/>
              <p:nvPr/>
            </p:nvSpPr>
            <p:spPr>
              <a:xfrm flipH="false" flipV="false" rot="0">
                <a:off x="0" y="0"/>
                <a:ext cx="1107376" cy="403990"/>
              </a:xfrm>
              <a:custGeom>
                <a:avLst/>
                <a:gdLst/>
                <a:ahLst/>
                <a:cxnLst/>
                <a:rect r="r" b="b" t="t" l="l"/>
                <a:pathLst>
                  <a:path h="403990" w="1107376">
                    <a:moveTo>
                      <a:pt x="553688" y="0"/>
                    </a:moveTo>
                    <a:cubicBezTo>
                      <a:pt x="247895" y="0"/>
                      <a:pt x="0" y="90436"/>
                      <a:pt x="0" y="201995"/>
                    </a:cubicBezTo>
                    <a:cubicBezTo>
                      <a:pt x="0" y="313554"/>
                      <a:pt x="247895" y="403990"/>
                      <a:pt x="553688" y="403990"/>
                    </a:cubicBezTo>
                    <a:cubicBezTo>
                      <a:pt x="859481" y="403990"/>
                      <a:pt x="1107376" y="313554"/>
                      <a:pt x="1107376" y="201995"/>
                    </a:cubicBezTo>
                    <a:cubicBezTo>
                      <a:pt x="1107376" y="90436"/>
                      <a:pt x="859481" y="0"/>
                      <a:pt x="553688" y="0"/>
                    </a:cubicBez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100" id="100"/>
              <p:cNvSpPr txBox="true"/>
              <p:nvPr/>
            </p:nvSpPr>
            <p:spPr>
              <a:xfrm>
                <a:off x="103816" y="18824"/>
                <a:ext cx="899743" cy="3472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8"/>
                  </a:lnSpc>
                </a:pPr>
                <a:r>
                  <a:rPr lang="en-US" sz="1206" u="sng">
                    <a:solidFill>
                      <a:srgbClr val="000000"/>
                    </a:solidFill>
                    <a:latin typeface="ABeeZee"/>
                    <a:ea typeface="ABeeZee"/>
                    <a:cs typeface="ABeeZee"/>
                    <a:sym typeface="ABeeZee"/>
                  </a:rPr>
                  <a:t>assignment_id</a:t>
                </a:r>
              </a:p>
            </p:txBody>
          </p:sp>
        </p:grpSp>
        <p:grpSp>
          <p:nvGrpSpPr>
            <p:cNvPr name="Group 101" id="101"/>
            <p:cNvGrpSpPr/>
            <p:nvPr/>
          </p:nvGrpSpPr>
          <p:grpSpPr>
            <a:xfrm rot="0">
              <a:off x="20280613" y="1084836"/>
              <a:ext cx="1643358" cy="667655"/>
              <a:chOff x="0" y="0"/>
              <a:chExt cx="994375" cy="403990"/>
            </a:xfrm>
          </p:grpSpPr>
          <p:sp>
            <p:nvSpPr>
              <p:cNvPr name="Freeform 102" id="102"/>
              <p:cNvSpPr/>
              <p:nvPr/>
            </p:nvSpPr>
            <p:spPr>
              <a:xfrm flipH="false" flipV="false" rot="0">
                <a:off x="0" y="0"/>
                <a:ext cx="994375" cy="403990"/>
              </a:xfrm>
              <a:custGeom>
                <a:avLst/>
                <a:gdLst/>
                <a:ahLst/>
                <a:cxnLst/>
                <a:rect r="r" b="b" t="t" l="l"/>
                <a:pathLst>
                  <a:path h="403990" w="994375">
                    <a:moveTo>
                      <a:pt x="497188" y="0"/>
                    </a:moveTo>
                    <a:cubicBezTo>
                      <a:pt x="222599" y="0"/>
                      <a:pt x="0" y="90436"/>
                      <a:pt x="0" y="201995"/>
                    </a:cubicBezTo>
                    <a:cubicBezTo>
                      <a:pt x="0" y="313554"/>
                      <a:pt x="222599" y="403990"/>
                      <a:pt x="497188" y="403990"/>
                    </a:cubicBezTo>
                    <a:cubicBezTo>
                      <a:pt x="771777" y="403990"/>
                      <a:pt x="994375" y="313554"/>
                      <a:pt x="994375" y="201995"/>
                    </a:cubicBezTo>
                    <a:cubicBezTo>
                      <a:pt x="994375" y="90436"/>
                      <a:pt x="771777" y="0"/>
                      <a:pt x="497188" y="0"/>
                    </a:cubicBez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103" id="103"/>
              <p:cNvSpPr txBox="true"/>
              <p:nvPr/>
            </p:nvSpPr>
            <p:spPr>
              <a:xfrm>
                <a:off x="93223" y="18824"/>
                <a:ext cx="807930" cy="3472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8"/>
                  </a:lnSpc>
                </a:pPr>
                <a:r>
                  <a:rPr lang="en-US" sz="1206" u="sng">
                    <a:solidFill>
                      <a:srgbClr val="000000"/>
                    </a:solidFill>
                    <a:latin typeface="ABeeZee"/>
                    <a:ea typeface="ABeeZee"/>
                    <a:cs typeface="ABeeZee"/>
                    <a:sym typeface="ABeeZee"/>
                  </a:rPr>
                  <a:t>mechanic_id</a:t>
                </a:r>
              </a:p>
            </p:txBody>
          </p:sp>
        </p:grpSp>
        <p:grpSp>
          <p:nvGrpSpPr>
            <p:cNvPr name="Group 104" id="104"/>
            <p:cNvGrpSpPr/>
            <p:nvPr/>
          </p:nvGrpSpPr>
          <p:grpSpPr>
            <a:xfrm rot="0">
              <a:off x="17513128" y="1029299"/>
              <a:ext cx="1478493" cy="667655"/>
              <a:chOff x="0" y="0"/>
              <a:chExt cx="894618" cy="403990"/>
            </a:xfrm>
          </p:grpSpPr>
          <p:sp>
            <p:nvSpPr>
              <p:cNvPr name="Freeform 105" id="105"/>
              <p:cNvSpPr/>
              <p:nvPr/>
            </p:nvSpPr>
            <p:spPr>
              <a:xfrm flipH="false" flipV="false" rot="0">
                <a:off x="0" y="0"/>
                <a:ext cx="894618" cy="403990"/>
              </a:xfrm>
              <a:custGeom>
                <a:avLst/>
                <a:gdLst/>
                <a:ahLst/>
                <a:cxnLst/>
                <a:rect r="r" b="b" t="t" l="l"/>
                <a:pathLst>
                  <a:path h="403990" w="894618">
                    <a:moveTo>
                      <a:pt x="447309" y="0"/>
                    </a:moveTo>
                    <a:cubicBezTo>
                      <a:pt x="200267" y="0"/>
                      <a:pt x="0" y="90436"/>
                      <a:pt x="0" y="201995"/>
                    </a:cubicBezTo>
                    <a:cubicBezTo>
                      <a:pt x="0" y="313554"/>
                      <a:pt x="200267" y="403990"/>
                      <a:pt x="447309" y="403990"/>
                    </a:cubicBezTo>
                    <a:cubicBezTo>
                      <a:pt x="694351" y="403990"/>
                      <a:pt x="894618" y="313554"/>
                      <a:pt x="894618" y="201995"/>
                    </a:cubicBezTo>
                    <a:cubicBezTo>
                      <a:pt x="894618" y="90436"/>
                      <a:pt x="694351" y="0"/>
                      <a:pt x="447309" y="0"/>
                    </a:cubicBez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106" id="106"/>
              <p:cNvSpPr txBox="true"/>
              <p:nvPr/>
            </p:nvSpPr>
            <p:spPr>
              <a:xfrm>
                <a:off x="83870" y="18824"/>
                <a:ext cx="726877" cy="3472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8"/>
                  </a:lnSpc>
                </a:pPr>
                <a:r>
                  <a:rPr lang="en-US" sz="1206">
                    <a:solidFill>
                      <a:srgbClr val="000000"/>
                    </a:solidFill>
                    <a:latin typeface="ABeeZee"/>
                    <a:ea typeface="ABeeZee"/>
                    <a:cs typeface="ABeeZee"/>
                    <a:sym typeface="ABeeZee"/>
                  </a:rPr>
                  <a:t>start_time</a:t>
                </a:r>
              </a:p>
            </p:txBody>
          </p:sp>
        </p:grpSp>
        <p:grpSp>
          <p:nvGrpSpPr>
            <p:cNvPr name="Group 107" id="107"/>
            <p:cNvGrpSpPr/>
            <p:nvPr/>
          </p:nvGrpSpPr>
          <p:grpSpPr>
            <a:xfrm rot="0">
              <a:off x="22289694" y="1055143"/>
              <a:ext cx="1928125" cy="667655"/>
              <a:chOff x="0" y="0"/>
              <a:chExt cx="1166684" cy="403990"/>
            </a:xfrm>
          </p:grpSpPr>
          <p:sp>
            <p:nvSpPr>
              <p:cNvPr name="Freeform 108" id="108"/>
              <p:cNvSpPr/>
              <p:nvPr/>
            </p:nvSpPr>
            <p:spPr>
              <a:xfrm flipH="false" flipV="false" rot="0">
                <a:off x="0" y="0"/>
                <a:ext cx="1166684" cy="403990"/>
              </a:xfrm>
              <a:custGeom>
                <a:avLst/>
                <a:gdLst/>
                <a:ahLst/>
                <a:cxnLst/>
                <a:rect r="r" b="b" t="t" l="l"/>
                <a:pathLst>
                  <a:path h="403990" w="1166684">
                    <a:moveTo>
                      <a:pt x="583342" y="0"/>
                    </a:moveTo>
                    <a:cubicBezTo>
                      <a:pt x="261171" y="0"/>
                      <a:pt x="0" y="90436"/>
                      <a:pt x="0" y="201995"/>
                    </a:cubicBezTo>
                    <a:cubicBezTo>
                      <a:pt x="0" y="313554"/>
                      <a:pt x="261171" y="403990"/>
                      <a:pt x="583342" y="403990"/>
                    </a:cubicBezTo>
                    <a:cubicBezTo>
                      <a:pt x="905513" y="403990"/>
                      <a:pt x="1166684" y="313554"/>
                      <a:pt x="1166684" y="201995"/>
                    </a:cubicBezTo>
                    <a:cubicBezTo>
                      <a:pt x="1166684" y="90436"/>
                      <a:pt x="905513" y="0"/>
                      <a:pt x="583342" y="0"/>
                    </a:cubicBez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109" id="109"/>
              <p:cNvSpPr txBox="true"/>
              <p:nvPr/>
            </p:nvSpPr>
            <p:spPr>
              <a:xfrm>
                <a:off x="109377" y="18824"/>
                <a:ext cx="947931" cy="3472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8"/>
                  </a:lnSpc>
                </a:pPr>
                <a:r>
                  <a:rPr lang="en-US" sz="1206">
                    <a:solidFill>
                      <a:srgbClr val="000000"/>
                    </a:solidFill>
                    <a:latin typeface="ABeeZee"/>
                    <a:ea typeface="ABeeZee"/>
                    <a:cs typeface="ABeeZee"/>
                    <a:sym typeface="ABeeZee"/>
                  </a:rPr>
                  <a:t>specialization</a:t>
                </a:r>
              </a:p>
            </p:txBody>
          </p:sp>
        </p:grpSp>
        <p:grpSp>
          <p:nvGrpSpPr>
            <p:cNvPr name="Group 110" id="110"/>
            <p:cNvGrpSpPr/>
            <p:nvPr/>
          </p:nvGrpSpPr>
          <p:grpSpPr>
            <a:xfrm rot="0">
              <a:off x="16346232" y="5267476"/>
              <a:ext cx="1478493" cy="667655"/>
              <a:chOff x="0" y="0"/>
              <a:chExt cx="894618" cy="403990"/>
            </a:xfrm>
          </p:grpSpPr>
          <p:sp>
            <p:nvSpPr>
              <p:cNvPr name="Freeform 111" id="111"/>
              <p:cNvSpPr/>
              <p:nvPr/>
            </p:nvSpPr>
            <p:spPr>
              <a:xfrm flipH="false" flipV="false" rot="0">
                <a:off x="0" y="0"/>
                <a:ext cx="894618" cy="403990"/>
              </a:xfrm>
              <a:custGeom>
                <a:avLst/>
                <a:gdLst/>
                <a:ahLst/>
                <a:cxnLst/>
                <a:rect r="r" b="b" t="t" l="l"/>
                <a:pathLst>
                  <a:path h="403990" w="894618">
                    <a:moveTo>
                      <a:pt x="447309" y="0"/>
                    </a:moveTo>
                    <a:cubicBezTo>
                      <a:pt x="200267" y="0"/>
                      <a:pt x="0" y="90436"/>
                      <a:pt x="0" y="201995"/>
                    </a:cubicBezTo>
                    <a:cubicBezTo>
                      <a:pt x="0" y="313554"/>
                      <a:pt x="200267" y="403990"/>
                      <a:pt x="447309" y="403990"/>
                    </a:cubicBezTo>
                    <a:cubicBezTo>
                      <a:pt x="694351" y="403990"/>
                      <a:pt x="894618" y="313554"/>
                      <a:pt x="894618" y="201995"/>
                    </a:cubicBezTo>
                    <a:cubicBezTo>
                      <a:pt x="894618" y="90436"/>
                      <a:pt x="694351" y="0"/>
                      <a:pt x="447309" y="0"/>
                    </a:cubicBez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112" id="112"/>
              <p:cNvSpPr txBox="true"/>
              <p:nvPr/>
            </p:nvSpPr>
            <p:spPr>
              <a:xfrm>
                <a:off x="83870" y="18824"/>
                <a:ext cx="726877" cy="3472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8"/>
                  </a:lnSpc>
                </a:pPr>
                <a:r>
                  <a:rPr lang="en-US" sz="1206" u="sng">
                    <a:solidFill>
                      <a:srgbClr val="000000"/>
                    </a:solidFill>
                    <a:latin typeface="ABeeZee"/>
                    <a:ea typeface="ABeeZee"/>
                    <a:cs typeface="ABeeZee"/>
                    <a:sym typeface="ABeeZee"/>
                  </a:rPr>
                  <a:t>invoice_id</a:t>
                </a:r>
              </a:p>
            </p:txBody>
          </p:sp>
        </p:grpSp>
        <p:grpSp>
          <p:nvGrpSpPr>
            <p:cNvPr name="Group 113" id="113"/>
            <p:cNvGrpSpPr/>
            <p:nvPr/>
          </p:nvGrpSpPr>
          <p:grpSpPr>
            <a:xfrm rot="0">
              <a:off x="18178536" y="5241523"/>
              <a:ext cx="1880989" cy="667655"/>
              <a:chOff x="0" y="0"/>
              <a:chExt cx="1138163" cy="403990"/>
            </a:xfrm>
          </p:grpSpPr>
          <p:sp>
            <p:nvSpPr>
              <p:cNvPr name="Freeform 114" id="114"/>
              <p:cNvSpPr/>
              <p:nvPr/>
            </p:nvSpPr>
            <p:spPr>
              <a:xfrm flipH="false" flipV="false" rot="0">
                <a:off x="0" y="0"/>
                <a:ext cx="1138163" cy="403990"/>
              </a:xfrm>
              <a:custGeom>
                <a:avLst/>
                <a:gdLst/>
                <a:ahLst/>
                <a:cxnLst/>
                <a:rect r="r" b="b" t="t" l="l"/>
                <a:pathLst>
                  <a:path h="403990" w="1138163">
                    <a:moveTo>
                      <a:pt x="569081" y="0"/>
                    </a:moveTo>
                    <a:cubicBezTo>
                      <a:pt x="254786" y="0"/>
                      <a:pt x="0" y="90436"/>
                      <a:pt x="0" y="201995"/>
                    </a:cubicBezTo>
                    <a:cubicBezTo>
                      <a:pt x="0" y="313554"/>
                      <a:pt x="254786" y="403990"/>
                      <a:pt x="569081" y="403990"/>
                    </a:cubicBezTo>
                    <a:cubicBezTo>
                      <a:pt x="883377" y="403990"/>
                      <a:pt x="1138163" y="313554"/>
                      <a:pt x="1138163" y="201995"/>
                    </a:cubicBezTo>
                    <a:cubicBezTo>
                      <a:pt x="1138163" y="90436"/>
                      <a:pt x="883377" y="0"/>
                      <a:pt x="569081" y="0"/>
                    </a:cubicBez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115" id="115"/>
              <p:cNvSpPr txBox="true"/>
              <p:nvPr/>
            </p:nvSpPr>
            <p:spPr>
              <a:xfrm>
                <a:off x="106703" y="18824"/>
                <a:ext cx="924757" cy="3472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8"/>
                  </a:lnSpc>
                </a:pPr>
                <a:r>
                  <a:rPr lang="en-US" sz="1206">
                    <a:solidFill>
                      <a:srgbClr val="000000"/>
                    </a:solidFill>
                    <a:latin typeface="ABeeZee"/>
                    <a:ea typeface="ABeeZee"/>
                    <a:cs typeface="ABeeZee"/>
                    <a:sym typeface="ABeeZee"/>
                  </a:rPr>
                  <a:t>total_amount</a:t>
                </a:r>
              </a:p>
            </p:txBody>
          </p:sp>
        </p:grpSp>
        <p:grpSp>
          <p:nvGrpSpPr>
            <p:cNvPr name="Group 116" id="116"/>
            <p:cNvGrpSpPr/>
            <p:nvPr/>
          </p:nvGrpSpPr>
          <p:grpSpPr>
            <a:xfrm rot="0">
              <a:off x="20811201" y="5244286"/>
              <a:ext cx="1478493" cy="667655"/>
              <a:chOff x="0" y="0"/>
              <a:chExt cx="894618" cy="403990"/>
            </a:xfrm>
          </p:grpSpPr>
          <p:sp>
            <p:nvSpPr>
              <p:cNvPr name="Freeform 117" id="117"/>
              <p:cNvSpPr/>
              <p:nvPr/>
            </p:nvSpPr>
            <p:spPr>
              <a:xfrm flipH="false" flipV="false" rot="0">
                <a:off x="0" y="0"/>
                <a:ext cx="894618" cy="403990"/>
              </a:xfrm>
              <a:custGeom>
                <a:avLst/>
                <a:gdLst/>
                <a:ahLst/>
                <a:cxnLst/>
                <a:rect r="r" b="b" t="t" l="l"/>
                <a:pathLst>
                  <a:path h="403990" w="894618">
                    <a:moveTo>
                      <a:pt x="447309" y="0"/>
                    </a:moveTo>
                    <a:cubicBezTo>
                      <a:pt x="200267" y="0"/>
                      <a:pt x="0" y="90436"/>
                      <a:pt x="0" y="201995"/>
                    </a:cubicBezTo>
                    <a:cubicBezTo>
                      <a:pt x="0" y="313554"/>
                      <a:pt x="200267" y="403990"/>
                      <a:pt x="447309" y="403990"/>
                    </a:cubicBezTo>
                    <a:cubicBezTo>
                      <a:pt x="694351" y="403990"/>
                      <a:pt x="894618" y="313554"/>
                      <a:pt x="894618" y="201995"/>
                    </a:cubicBezTo>
                    <a:cubicBezTo>
                      <a:pt x="894618" y="90436"/>
                      <a:pt x="694351" y="0"/>
                      <a:pt x="447309" y="0"/>
                    </a:cubicBez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118" id="118"/>
              <p:cNvSpPr txBox="true"/>
              <p:nvPr/>
            </p:nvSpPr>
            <p:spPr>
              <a:xfrm>
                <a:off x="83870" y="18824"/>
                <a:ext cx="726877" cy="3472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8"/>
                  </a:lnSpc>
                </a:pPr>
                <a:r>
                  <a:rPr lang="en-US" sz="1206" u="sng">
                    <a:solidFill>
                      <a:srgbClr val="000000"/>
                    </a:solidFill>
                    <a:latin typeface="ABeeZee"/>
                    <a:ea typeface="ABeeZee"/>
                    <a:cs typeface="ABeeZee"/>
                    <a:sym typeface="ABeeZee"/>
                  </a:rPr>
                  <a:t>payment_id</a:t>
                </a:r>
              </a:p>
            </p:txBody>
          </p:sp>
        </p:grpSp>
        <p:grpSp>
          <p:nvGrpSpPr>
            <p:cNvPr name="Group 119" id="119"/>
            <p:cNvGrpSpPr/>
            <p:nvPr/>
          </p:nvGrpSpPr>
          <p:grpSpPr>
            <a:xfrm rot="0">
              <a:off x="22630115" y="5244286"/>
              <a:ext cx="1753885" cy="667655"/>
              <a:chOff x="0" y="0"/>
              <a:chExt cx="1061254" cy="403990"/>
            </a:xfrm>
          </p:grpSpPr>
          <p:sp>
            <p:nvSpPr>
              <p:cNvPr name="Freeform 120" id="120"/>
              <p:cNvSpPr/>
              <p:nvPr/>
            </p:nvSpPr>
            <p:spPr>
              <a:xfrm flipH="false" flipV="false" rot="0">
                <a:off x="0" y="0"/>
                <a:ext cx="1061254" cy="403990"/>
              </a:xfrm>
              <a:custGeom>
                <a:avLst/>
                <a:gdLst/>
                <a:ahLst/>
                <a:cxnLst/>
                <a:rect r="r" b="b" t="t" l="l"/>
                <a:pathLst>
                  <a:path h="403990" w="1061254">
                    <a:moveTo>
                      <a:pt x="530627" y="0"/>
                    </a:moveTo>
                    <a:cubicBezTo>
                      <a:pt x="237570" y="0"/>
                      <a:pt x="0" y="90436"/>
                      <a:pt x="0" y="201995"/>
                    </a:cubicBezTo>
                    <a:cubicBezTo>
                      <a:pt x="0" y="313554"/>
                      <a:pt x="237570" y="403990"/>
                      <a:pt x="530627" y="403990"/>
                    </a:cubicBezTo>
                    <a:cubicBezTo>
                      <a:pt x="823684" y="403990"/>
                      <a:pt x="1061254" y="313554"/>
                      <a:pt x="1061254" y="201995"/>
                    </a:cubicBezTo>
                    <a:cubicBezTo>
                      <a:pt x="1061254" y="90436"/>
                      <a:pt x="823684" y="0"/>
                      <a:pt x="530627" y="0"/>
                    </a:cubicBez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121" id="121"/>
              <p:cNvSpPr txBox="true"/>
              <p:nvPr/>
            </p:nvSpPr>
            <p:spPr>
              <a:xfrm>
                <a:off x="99493" y="18824"/>
                <a:ext cx="862269" cy="3472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8"/>
                  </a:lnSpc>
                </a:pPr>
                <a:r>
                  <a:rPr lang="en-US" sz="1206">
                    <a:solidFill>
                      <a:srgbClr val="000000"/>
                    </a:solidFill>
                    <a:latin typeface="ABeeZee"/>
                    <a:ea typeface="ABeeZee"/>
                    <a:cs typeface="ABeeZee"/>
                    <a:sym typeface="ABeeZee"/>
                  </a:rPr>
                  <a:t>amount_paid</a:t>
                </a:r>
              </a:p>
            </p:txBody>
          </p:sp>
        </p:grpSp>
        <p:grpSp>
          <p:nvGrpSpPr>
            <p:cNvPr name="Group 122" id="122"/>
            <p:cNvGrpSpPr/>
            <p:nvPr/>
          </p:nvGrpSpPr>
          <p:grpSpPr>
            <a:xfrm rot="0">
              <a:off x="11228871" y="9850100"/>
              <a:ext cx="1532385" cy="614374"/>
              <a:chOff x="0" y="0"/>
              <a:chExt cx="5082536" cy="2037724"/>
            </a:xfrm>
          </p:grpSpPr>
          <p:sp>
            <p:nvSpPr>
              <p:cNvPr name="Freeform 123" id="123"/>
              <p:cNvSpPr/>
              <p:nvPr/>
            </p:nvSpPr>
            <p:spPr>
              <a:xfrm flipH="false" flipV="false" rot="0">
                <a:off x="0" y="0"/>
                <a:ext cx="5082536" cy="2037724"/>
              </a:xfrm>
              <a:custGeom>
                <a:avLst/>
                <a:gdLst/>
                <a:ahLst/>
                <a:cxnLst/>
                <a:rect r="r" b="b" t="t" l="l"/>
                <a:pathLst>
                  <a:path h="2037724" w="5082536">
                    <a:moveTo>
                      <a:pt x="0" y="0"/>
                    </a:moveTo>
                    <a:lnTo>
                      <a:pt x="5082536" y="0"/>
                    </a:lnTo>
                    <a:lnTo>
                      <a:pt x="5082536" y="2037724"/>
                    </a:lnTo>
                    <a:lnTo>
                      <a:pt x="0" y="2037724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</p:sp>
          <p:sp>
            <p:nvSpPr>
              <p:cNvPr name="TextBox 124" id="124"/>
              <p:cNvSpPr txBox="true"/>
              <p:nvPr/>
            </p:nvSpPr>
            <p:spPr>
              <a:xfrm>
                <a:off x="0" y="-38100"/>
                <a:ext cx="5082536" cy="20758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6"/>
                  </a:lnSpc>
                  <a:spcBef>
                    <a:spcPct val="0"/>
                  </a:spcBef>
                </a:pPr>
                <a:r>
                  <a:rPr lang="en-US" sz="1447">
                    <a:solidFill>
                      <a:srgbClr val="000000"/>
                    </a:solidFill>
                    <a:latin typeface="ABeeZee Bold"/>
                    <a:ea typeface="ABeeZee Bold"/>
                    <a:cs typeface="ABeeZee Bold"/>
                    <a:sym typeface="ABeeZee Bold"/>
                  </a:rPr>
                  <a:t>PART USAGE</a:t>
                </a:r>
              </a:p>
            </p:txBody>
          </p:sp>
        </p:grpSp>
        <p:grpSp>
          <p:nvGrpSpPr>
            <p:cNvPr name="Group 125" id="125"/>
            <p:cNvGrpSpPr/>
            <p:nvPr/>
          </p:nvGrpSpPr>
          <p:grpSpPr>
            <a:xfrm rot="0">
              <a:off x="11096979" y="7903142"/>
              <a:ext cx="1764661" cy="1126139"/>
              <a:chOff x="0" y="0"/>
              <a:chExt cx="1273659" cy="812800"/>
            </a:xfrm>
          </p:grpSpPr>
          <p:sp>
            <p:nvSpPr>
              <p:cNvPr name="Freeform 126" id="126"/>
              <p:cNvSpPr/>
              <p:nvPr/>
            </p:nvSpPr>
            <p:spPr>
              <a:xfrm flipH="false" flipV="false" rot="0">
                <a:off x="0" y="0"/>
                <a:ext cx="127365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273659">
                    <a:moveTo>
                      <a:pt x="636829" y="0"/>
                    </a:moveTo>
                    <a:lnTo>
                      <a:pt x="1273659" y="406400"/>
                    </a:lnTo>
                    <a:lnTo>
                      <a:pt x="636829" y="812800"/>
                    </a:lnTo>
                    <a:lnTo>
                      <a:pt x="0" y="406400"/>
                    </a:lnTo>
                    <a:lnTo>
                      <a:pt x="636829" y="0"/>
                    </a:ln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127" id="127"/>
              <p:cNvSpPr txBox="true"/>
              <p:nvPr/>
            </p:nvSpPr>
            <p:spPr>
              <a:xfrm>
                <a:off x="218910" y="101600"/>
                <a:ext cx="835838" cy="57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6"/>
                  </a:lnSpc>
                  <a:spcBef>
                    <a:spcPct val="0"/>
                  </a:spcBef>
                </a:pPr>
                <a:r>
                  <a:rPr lang="en-US" sz="1447">
                    <a:solidFill>
                      <a:srgbClr val="000000"/>
                    </a:solidFill>
                    <a:latin typeface="ABeeZee Bold"/>
                    <a:ea typeface="ABeeZee Bold"/>
                    <a:cs typeface="ABeeZee Bold"/>
                    <a:sym typeface="ABeeZee Bold"/>
                  </a:rPr>
                  <a:t>RECORDS</a:t>
                </a:r>
              </a:p>
            </p:txBody>
          </p:sp>
        </p:grpSp>
        <p:grpSp>
          <p:nvGrpSpPr>
            <p:cNvPr name="Group 128" id="128"/>
            <p:cNvGrpSpPr/>
            <p:nvPr/>
          </p:nvGrpSpPr>
          <p:grpSpPr>
            <a:xfrm rot="0">
              <a:off x="13077434" y="8010206"/>
              <a:ext cx="1478493" cy="667655"/>
              <a:chOff x="0" y="0"/>
              <a:chExt cx="894618" cy="403990"/>
            </a:xfrm>
          </p:grpSpPr>
          <p:sp>
            <p:nvSpPr>
              <p:cNvPr name="Freeform 129" id="129"/>
              <p:cNvSpPr/>
              <p:nvPr/>
            </p:nvSpPr>
            <p:spPr>
              <a:xfrm flipH="false" flipV="false" rot="0">
                <a:off x="0" y="0"/>
                <a:ext cx="894618" cy="403990"/>
              </a:xfrm>
              <a:custGeom>
                <a:avLst/>
                <a:gdLst/>
                <a:ahLst/>
                <a:cxnLst/>
                <a:rect r="r" b="b" t="t" l="l"/>
                <a:pathLst>
                  <a:path h="403990" w="894618">
                    <a:moveTo>
                      <a:pt x="447309" y="0"/>
                    </a:moveTo>
                    <a:cubicBezTo>
                      <a:pt x="200267" y="0"/>
                      <a:pt x="0" y="90436"/>
                      <a:pt x="0" y="201995"/>
                    </a:cubicBezTo>
                    <a:cubicBezTo>
                      <a:pt x="0" y="313554"/>
                      <a:pt x="200267" y="403990"/>
                      <a:pt x="447309" y="403990"/>
                    </a:cubicBezTo>
                    <a:cubicBezTo>
                      <a:pt x="694351" y="403990"/>
                      <a:pt x="894618" y="313554"/>
                      <a:pt x="894618" y="201995"/>
                    </a:cubicBezTo>
                    <a:cubicBezTo>
                      <a:pt x="894618" y="90436"/>
                      <a:pt x="694351" y="0"/>
                      <a:pt x="447309" y="0"/>
                    </a:cubicBez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130" id="130"/>
              <p:cNvSpPr txBox="true"/>
              <p:nvPr/>
            </p:nvSpPr>
            <p:spPr>
              <a:xfrm>
                <a:off x="83870" y="18824"/>
                <a:ext cx="726877" cy="3472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8"/>
                  </a:lnSpc>
                </a:pPr>
                <a:r>
                  <a:rPr lang="en-US" sz="1206" u="sng">
                    <a:solidFill>
                      <a:srgbClr val="000000"/>
                    </a:solidFill>
                    <a:latin typeface="ABeeZee"/>
                    <a:ea typeface="ABeeZee"/>
                    <a:cs typeface="ABeeZee"/>
                    <a:sym typeface="ABeeZee"/>
                  </a:rPr>
                  <a:t>job_card_id</a:t>
                </a:r>
              </a:p>
            </p:txBody>
          </p:sp>
        </p:grpSp>
        <p:grpSp>
          <p:nvGrpSpPr>
            <p:cNvPr name="Group 131" id="131"/>
            <p:cNvGrpSpPr/>
            <p:nvPr/>
          </p:nvGrpSpPr>
          <p:grpSpPr>
            <a:xfrm rot="0">
              <a:off x="14761696" y="8010206"/>
              <a:ext cx="1478493" cy="667655"/>
              <a:chOff x="0" y="0"/>
              <a:chExt cx="894618" cy="403990"/>
            </a:xfrm>
          </p:grpSpPr>
          <p:sp>
            <p:nvSpPr>
              <p:cNvPr name="Freeform 132" id="132"/>
              <p:cNvSpPr/>
              <p:nvPr/>
            </p:nvSpPr>
            <p:spPr>
              <a:xfrm flipH="false" flipV="false" rot="0">
                <a:off x="0" y="0"/>
                <a:ext cx="894618" cy="403990"/>
              </a:xfrm>
              <a:custGeom>
                <a:avLst/>
                <a:gdLst/>
                <a:ahLst/>
                <a:cxnLst/>
                <a:rect r="r" b="b" t="t" l="l"/>
                <a:pathLst>
                  <a:path h="403990" w="894618">
                    <a:moveTo>
                      <a:pt x="447309" y="0"/>
                    </a:moveTo>
                    <a:cubicBezTo>
                      <a:pt x="200267" y="0"/>
                      <a:pt x="0" y="90436"/>
                      <a:pt x="0" y="201995"/>
                    </a:cubicBezTo>
                    <a:cubicBezTo>
                      <a:pt x="0" y="313554"/>
                      <a:pt x="200267" y="403990"/>
                      <a:pt x="447309" y="403990"/>
                    </a:cubicBezTo>
                    <a:cubicBezTo>
                      <a:pt x="694351" y="403990"/>
                      <a:pt x="894618" y="313554"/>
                      <a:pt x="894618" y="201995"/>
                    </a:cubicBezTo>
                    <a:cubicBezTo>
                      <a:pt x="894618" y="90436"/>
                      <a:pt x="694351" y="0"/>
                      <a:pt x="447309" y="0"/>
                    </a:cubicBez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133" id="133"/>
              <p:cNvSpPr txBox="true"/>
              <p:nvPr/>
            </p:nvSpPr>
            <p:spPr>
              <a:xfrm>
                <a:off x="83870" y="18824"/>
                <a:ext cx="726877" cy="3472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8"/>
                  </a:lnSpc>
                </a:pPr>
                <a:r>
                  <a:rPr lang="en-US" sz="1206">
                    <a:solidFill>
                      <a:srgbClr val="000000"/>
                    </a:solidFill>
                    <a:latin typeface="ABeeZee"/>
                    <a:ea typeface="ABeeZee"/>
                    <a:cs typeface="ABeeZee"/>
                    <a:sym typeface="ABeeZee"/>
                  </a:rPr>
                  <a:t>job_status</a:t>
                </a:r>
              </a:p>
            </p:txBody>
          </p:sp>
        </p:grpSp>
        <p:sp>
          <p:nvSpPr>
            <p:cNvPr name="AutoShape 134" id="134"/>
            <p:cNvSpPr/>
            <p:nvPr/>
          </p:nvSpPr>
          <p:spPr>
            <a:xfrm>
              <a:off x="13205607" y="7121923"/>
              <a:ext cx="611073" cy="888284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5" id="135"/>
            <p:cNvSpPr/>
            <p:nvPr/>
          </p:nvSpPr>
          <p:spPr>
            <a:xfrm>
              <a:off x="13652078" y="7121923"/>
              <a:ext cx="1703775" cy="894711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6" id="136"/>
            <p:cNvSpPr/>
            <p:nvPr/>
          </p:nvSpPr>
          <p:spPr>
            <a:xfrm>
              <a:off x="12469372" y="6858205"/>
              <a:ext cx="490119" cy="0"/>
            </a:xfrm>
            <a:prstGeom prst="line">
              <a:avLst/>
            </a:prstGeom>
            <a:ln cap="flat" w="5105">
              <a:solidFill>
                <a:srgbClr val="ACB8C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7" id="137"/>
            <p:cNvSpPr/>
            <p:nvPr/>
          </p:nvSpPr>
          <p:spPr>
            <a:xfrm flipV="true">
              <a:off x="11979309" y="7121923"/>
              <a:ext cx="961522" cy="781219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8" id="138"/>
            <p:cNvSpPr/>
            <p:nvPr/>
          </p:nvSpPr>
          <p:spPr>
            <a:xfrm>
              <a:off x="11979309" y="9029281"/>
              <a:ext cx="15754" cy="820819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39" id="139"/>
            <p:cNvGrpSpPr/>
            <p:nvPr/>
          </p:nvGrpSpPr>
          <p:grpSpPr>
            <a:xfrm rot="0">
              <a:off x="10512527" y="10780778"/>
              <a:ext cx="1478493" cy="667655"/>
              <a:chOff x="0" y="0"/>
              <a:chExt cx="894618" cy="403990"/>
            </a:xfrm>
          </p:grpSpPr>
          <p:sp>
            <p:nvSpPr>
              <p:cNvPr name="Freeform 140" id="140"/>
              <p:cNvSpPr/>
              <p:nvPr/>
            </p:nvSpPr>
            <p:spPr>
              <a:xfrm flipH="false" flipV="false" rot="0">
                <a:off x="0" y="0"/>
                <a:ext cx="894618" cy="403990"/>
              </a:xfrm>
              <a:custGeom>
                <a:avLst/>
                <a:gdLst/>
                <a:ahLst/>
                <a:cxnLst/>
                <a:rect r="r" b="b" t="t" l="l"/>
                <a:pathLst>
                  <a:path h="403990" w="894618">
                    <a:moveTo>
                      <a:pt x="447309" y="0"/>
                    </a:moveTo>
                    <a:cubicBezTo>
                      <a:pt x="200267" y="0"/>
                      <a:pt x="0" y="90436"/>
                      <a:pt x="0" y="201995"/>
                    </a:cubicBezTo>
                    <a:cubicBezTo>
                      <a:pt x="0" y="313554"/>
                      <a:pt x="200267" y="403990"/>
                      <a:pt x="447309" y="403990"/>
                    </a:cubicBezTo>
                    <a:cubicBezTo>
                      <a:pt x="694351" y="403990"/>
                      <a:pt x="894618" y="313554"/>
                      <a:pt x="894618" y="201995"/>
                    </a:cubicBezTo>
                    <a:cubicBezTo>
                      <a:pt x="894618" y="90436"/>
                      <a:pt x="694351" y="0"/>
                      <a:pt x="447309" y="0"/>
                    </a:cubicBez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141" id="141"/>
              <p:cNvSpPr txBox="true"/>
              <p:nvPr/>
            </p:nvSpPr>
            <p:spPr>
              <a:xfrm>
                <a:off x="83870" y="18824"/>
                <a:ext cx="726877" cy="3472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8"/>
                  </a:lnSpc>
                </a:pPr>
                <a:r>
                  <a:rPr lang="en-US" sz="1206" u="sng">
                    <a:solidFill>
                      <a:srgbClr val="000000"/>
                    </a:solidFill>
                    <a:latin typeface="ABeeZee"/>
                    <a:ea typeface="ABeeZee"/>
                    <a:cs typeface="ABeeZee"/>
                    <a:sym typeface="ABeeZee"/>
                  </a:rPr>
                  <a:t>usage_id</a:t>
                </a:r>
              </a:p>
            </p:txBody>
          </p:sp>
        </p:grpSp>
        <p:grpSp>
          <p:nvGrpSpPr>
            <p:cNvPr name="Group 142" id="142"/>
            <p:cNvGrpSpPr/>
            <p:nvPr/>
          </p:nvGrpSpPr>
          <p:grpSpPr>
            <a:xfrm rot="0">
              <a:off x="12173585" y="10795978"/>
              <a:ext cx="1643095" cy="667655"/>
              <a:chOff x="0" y="0"/>
              <a:chExt cx="994216" cy="403990"/>
            </a:xfrm>
          </p:grpSpPr>
          <p:sp>
            <p:nvSpPr>
              <p:cNvPr name="Freeform 143" id="143"/>
              <p:cNvSpPr/>
              <p:nvPr/>
            </p:nvSpPr>
            <p:spPr>
              <a:xfrm flipH="false" flipV="false" rot="0">
                <a:off x="0" y="0"/>
                <a:ext cx="994216" cy="403990"/>
              </a:xfrm>
              <a:custGeom>
                <a:avLst/>
                <a:gdLst/>
                <a:ahLst/>
                <a:cxnLst/>
                <a:rect r="r" b="b" t="t" l="l"/>
                <a:pathLst>
                  <a:path h="403990" w="994216">
                    <a:moveTo>
                      <a:pt x="497108" y="0"/>
                    </a:moveTo>
                    <a:cubicBezTo>
                      <a:pt x="222563" y="0"/>
                      <a:pt x="0" y="90436"/>
                      <a:pt x="0" y="201995"/>
                    </a:cubicBezTo>
                    <a:cubicBezTo>
                      <a:pt x="0" y="313554"/>
                      <a:pt x="222563" y="403990"/>
                      <a:pt x="497108" y="403990"/>
                    </a:cubicBezTo>
                    <a:cubicBezTo>
                      <a:pt x="771653" y="403990"/>
                      <a:pt x="994216" y="313554"/>
                      <a:pt x="994216" y="201995"/>
                    </a:cubicBezTo>
                    <a:cubicBezTo>
                      <a:pt x="994216" y="90436"/>
                      <a:pt x="771653" y="0"/>
                      <a:pt x="497108" y="0"/>
                    </a:cubicBez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144" id="144"/>
              <p:cNvSpPr txBox="true"/>
              <p:nvPr/>
            </p:nvSpPr>
            <p:spPr>
              <a:xfrm>
                <a:off x="93208" y="18824"/>
                <a:ext cx="807801" cy="3472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8"/>
                  </a:lnSpc>
                </a:pPr>
                <a:r>
                  <a:rPr lang="en-US" sz="1206">
                    <a:solidFill>
                      <a:srgbClr val="000000"/>
                    </a:solidFill>
                    <a:latin typeface="ABeeZee"/>
                    <a:ea typeface="ABeeZee"/>
                    <a:cs typeface="ABeeZee"/>
                    <a:sym typeface="ABeeZee"/>
                  </a:rPr>
                  <a:t>quantiy_used</a:t>
                </a:r>
              </a:p>
            </p:txBody>
          </p:sp>
        </p:grpSp>
        <p:grpSp>
          <p:nvGrpSpPr>
            <p:cNvPr name="Group 145" id="145"/>
            <p:cNvGrpSpPr/>
            <p:nvPr/>
          </p:nvGrpSpPr>
          <p:grpSpPr>
            <a:xfrm rot="0">
              <a:off x="15772459" y="9850100"/>
              <a:ext cx="1532385" cy="614374"/>
              <a:chOff x="0" y="0"/>
              <a:chExt cx="5082536" cy="2037724"/>
            </a:xfrm>
          </p:grpSpPr>
          <p:sp>
            <p:nvSpPr>
              <p:cNvPr name="Freeform 146" id="146"/>
              <p:cNvSpPr/>
              <p:nvPr/>
            </p:nvSpPr>
            <p:spPr>
              <a:xfrm flipH="false" flipV="false" rot="0">
                <a:off x="0" y="0"/>
                <a:ext cx="5082536" cy="2037724"/>
              </a:xfrm>
              <a:custGeom>
                <a:avLst/>
                <a:gdLst/>
                <a:ahLst/>
                <a:cxnLst/>
                <a:rect r="r" b="b" t="t" l="l"/>
                <a:pathLst>
                  <a:path h="2037724" w="5082536">
                    <a:moveTo>
                      <a:pt x="0" y="0"/>
                    </a:moveTo>
                    <a:lnTo>
                      <a:pt x="5082536" y="0"/>
                    </a:lnTo>
                    <a:lnTo>
                      <a:pt x="5082536" y="2037724"/>
                    </a:lnTo>
                    <a:lnTo>
                      <a:pt x="0" y="2037724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</p:sp>
          <p:sp>
            <p:nvSpPr>
              <p:cNvPr name="TextBox 147" id="147"/>
              <p:cNvSpPr txBox="true"/>
              <p:nvPr/>
            </p:nvSpPr>
            <p:spPr>
              <a:xfrm>
                <a:off x="0" y="-38100"/>
                <a:ext cx="5082536" cy="20758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6"/>
                  </a:lnSpc>
                  <a:spcBef>
                    <a:spcPct val="0"/>
                  </a:spcBef>
                </a:pPr>
                <a:r>
                  <a:rPr lang="en-US" sz="1447">
                    <a:solidFill>
                      <a:srgbClr val="000000"/>
                    </a:solidFill>
                    <a:latin typeface="ABeeZee Bold"/>
                    <a:ea typeface="ABeeZee Bold"/>
                    <a:cs typeface="ABeeZee Bold"/>
                    <a:sym typeface="ABeeZee Bold"/>
                  </a:rPr>
                  <a:t>SPARE PART</a:t>
                </a:r>
              </a:p>
            </p:txBody>
          </p:sp>
        </p:grpSp>
        <p:sp>
          <p:nvSpPr>
            <p:cNvPr name="AutoShape 148" id="148"/>
            <p:cNvSpPr/>
            <p:nvPr/>
          </p:nvSpPr>
          <p:spPr>
            <a:xfrm>
              <a:off x="12761256" y="10157287"/>
              <a:ext cx="3011203" cy="0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49" id="149"/>
            <p:cNvGrpSpPr/>
            <p:nvPr/>
          </p:nvGrpSpPr>
          <p:grpSpPr>
            <a:xfrm rot="0">
              <a:off x="13449631" y="9594217"/>
              <a:ext cx="1542687" cy="1126139"/>
              <a:chOff x="0" y="0"/>
              <a:chExt cx="1113447" cy="812800"/>
            </a:xfrm>
          </p:grpSpPr>
          <p:sp>
            <p:nvSpPr>
              <p:cNvPr name="Freeform 150" id="150"/>
              <p:cNvSpPr/>
              <p:nvPr/>
            </p:nvSpPr>
            <p:spPr>
              <a:xfrm flipH="false" flipV="false" rot="0">
                <a:off x="0" y="0"/>
                <a:ext cx="111344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113447">
                    <a:moveTo>
                      <a:pt x="556723" y="0"/>
                    </a:moveTo>
                    <a:lnTo>
                      <a:pt x="1113447" y="406400"/>
                    </a:lnTo>
                    <a:lnTo>
                      <a:pt x="556723" y="812800"/>
                    </a:lnTo>
                    <a:lnTo>
                      <a:pt x="0" y="406400"/>
                    </a:lnTo>
                    <a:lnTo>
                      <a:pt x="556723" y="0"/>
                    </a:ln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151" id="151"/>
              <p:cNvSpPr txBox="true"/>
              <p:nvPr/>
            </p:nvSpPr>
            <p:spPr>
              <a:xfrm>
                <a:off x="191374" y="101600"/>
                <a:ext cx="730699" cy="57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6"/>
                  </a:lnSpc>
                  <a:spcBef>
                    <a:spcPct val="0"/>
                  </a:spcBef>
                </a:pPr>
                <a:r>
                  <a:rPr lang="en-US" sz="1447">
                    <a:solidFill>
                      <a:srgbClr val="000000"/>
                    </a:solidFill>
                    <a:latin typeface="ABeeZee Bold"/>
                    <a:ea typeface="ABeeZee Bold"/>
                    <a:cs typeface="ABeeZee Bold"/>
                    <a:sym typeface="ABeeZee Bold"/>
                  </a:rPr>
                  <a:t>REFERS TO</a:t>
                </a:r>
              </a:p>
            </p:txBody>
          </p:sp>
        </p:grpSp>
        <p:grpSp>
          <p:nvGrpSpPr>
            <p:cNvPr name="Group 152" id="152"/>
            <p:cNvGrpSpPr/>
            <p:nvPr/>
          </p:nvGrpSpPr>
          <p:grpSpPr>
            <a:xfrm rot="0">
              <a:off x="15183830" y="10780778"/>
              <a:ext cx="1478493" cy="667655"/>
              <a:chOff x="0" y="0"/>
              <a:chExt cx="894618" cy="403990"/>
            </a:xfrm>
          </p:grpSpPr>
          <p:sp>
            <p:nvSpPr>
              <p:cNvPr name="Freeform 153" id="153"/>
              <p:cNvSpPr/>
              <p:nvPr/>
            </p:nvSpPr>
            <p:spPr>
              <a:xfrm flipH="false" flipV="false" rot="0">
                <a:off x="0" y="0"/>
                <a:ext cx="894618" cy="403990"/>
              </a:xfrm>
              <a:custGeom>
                <a:avLst/>
                <a:gdLst/>
                <a:ahLst/>
                <a:cxnLst/>
                <a:rect r="r" b="b" t="t" l="l"/>
                <a:pathLst>
                  <a:path h="403990" w="894618">
                    <a:moveTo>
                      <a:pt x="447309" y="0"/>
                    </a:moveTo>
                    <a:cubicBezTo>
                      <a:pt x="200267" y="0"/>
                      <a:pt x="0" y="90436"/>
                      <a:pt x="0" y="201995"/>
                    </a:cubicBezTo>
                    <a:cubicBezTo>
                      <a:pt x="0" y="313554"/>
                      <a:pt x="200267" y="403990"/>
                      <a:pt x="447309" y="403990"/>
                    </a:cubicBezTo>
                    <a:cubicBezTo>
                      <a:pt x="694351" y="403990"/>
                      <a:pt x="894618" y="313554"/>
                      <a:pt x="894618" y="201995"/>
                    </a:cubicBezTo>
                    <a:cubicBezTo>
                      <a:pt x="894618" y="90436"/>
                      <a:pt x="694351" y="0"/>
                      <a:pt x="447309" y="0"/>
                    </a:cubicBez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154" id="154"/>
              <p:cNvSpPr txBox="true"/>
              <p:nvPr/>
            </p:nvSpPr>
            <p:spPr>
              <a:xfrm>
                <a:off x="83870" y="18824"/>
                <a:ext cx="726877" cy="3472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8"/>
                  </a:lnSpc>
                </a:pPr>
                <a:r>
                  <a:rPr lang="en-US" sz="1206" u="sng">
                    <a:solidFill>
                      <a:srgbClr val="000000"/>
                    </a:solidFill>
                    <a:latin typeface="ABeeZee"/>
                    <a:ea typeface="ABeeZee"/>
                    <a:cs typeface="ABeeZee"/>
                    <a:sym typeface="ABeeZee"/>
                  </a:rPr>
                  <a:t>part_id</a:t>
                </a:r>
              </a:p>
            </p:txBody>
          </p:sp>
        </p:grpSp>
        <p:grpSp>
          <p:nvGrpSpPr>
            <p:cNvPr name="Group 155" id="155"/>
            <p:cNvGrpSpPr/>
            <p:nvPr/>
          </p:nvGrpSpPr>
          <p:grpSpPr>
            <a:xfrm rot="0">
              <a:off x="17009876" y="10746200"/>
              <a:ext cx="1757061" cy="667655"/>
              <a:chOff x="0" y="0"/>
              <a:chExt cx="1063176" cy="403990"/>
            </a:xfrm>
          </p:grpSpPr>
          <p:sp>
            <p:nvSpPr>
              <p:cNvPr name="Freeform 156" id="156"/>
              <p:cNvSpPr/>
              <p:nvPr/>
            </p:nvSpPr>
            <p:spPr>
              <a:xfrm flipH="false" flipV="false" rot="0">
                <a:off x="0" y="0"/>
                <a:ext cx="1063176" cy="403990"/>
              </a:xfrm>
              <a:custGeom>
                <a:avLst/>
                <a:gdLst/>
                <a:ahLst/>
                <a:cxnLst/>
                <a:rect r="r" b="b" t="t" l="l"/>
                <a:pathLst>
                  <a:path h="403990" w="1063176">
                    <a:moveTo>
                      <a:pt x="531588" y="0"/>
                    </a:moveTo>
                    <a:cubicBezTo>
                      <a:pt x="238000" y="0"/>
                      <a:pt x="0" y="90436"/>
                      <a:pt x="0" y="201995"/>
                    </a:cubicBezTo>
                    <a:cubicBezTo>
                      <a:pt x="0" y="313554"/>
                      <a:pt x="238000" y="403990"/>
                      <a:pt x="531588" y="403990"/>
                    </a:cubicBezTo>
                    <a:cubicBezTo>
                      <a:pt x="825176" y="403990"/>
                      <a:pt x="1063176" y="313554"/>
                      <a:pt x="1063176" y="201995"/>
                    </a:cubicBezTo>
                    <a:cubicBezTo>
                      <a:pt x="1063176" y="90436"/>
                      <a:pt x="825176" y="0"/>
                      <a:pt x="531588" y="0"/>
                    </a:cubicBez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157" id="157"/>
              <p:cNvSpPr txBox="true"/>
              <p:nvPr/>
            </p:nvSpPr>
            <p:spPr>
              <a:xfrm>
                <a:off x="99673" y="18824"/>
                <a:ext cx="863830" cy="3472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8"/>
                  </a:lnSpc>
                </a:pPr>
                <a:r>
                  <a:rPr lang="en-US" sz="1206">
                    <a:solidFill>
                      <a:srgbClr val="000000"/>
                    </a:solidFill>
                    <a:latin typeface="ABeeZee"/>
                    <a:ea typeface="ABeeZee"/>
                    <a:cs typeface="ABeeZee"/>
                    <a:sym typeface="ABeeZee"/>
                  </a:rPr>
                  <a:t>stock_quanity</a:t>
                </a:r>
              </a:p>
            </p:txBody>
          </p:sp>
        </p:grpSp>
        <p:grpSp>
          <p:nvGrpSpPr>
            <p:cNvPr name="Group 158" id="158"/>
            <p:cNvGrpSpPr/>
            <p:nvPr/>
          </p:nvGrpSpPr>
          <p:grpSpPr>
            <a:xfrm rot="0">
              <a:off x="12300144" y="4188022"/>
              <a:ext cx="1810926" cy="1126139"/>
              <a:chOff x="0" y="0"/>
              <a:chExt cx="1307051" cy="812800"/>
            </a:xfrm>
          </p:grpSpPr>
          <p:sp>
            <p:nvSpPr>
              <p:cNvPr name="Freeform 159" id="159"/>
              <p:cNvSpPr/>
              <p:nvPr/>
            </p:nvSpPr>
            <p:spPr>
              <a:xfrm flipH="false" flipV="false" rot="0">
                <a:off x="0" y="0"/>
                <a:ext cx="130705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307051">
                    <a:moveTo>
                      <a:pt x="653525" y="0"/>
                    </a:moveTo>
                    <a:lnTo>
                      <a:pt x="1307051" y="406400"/>
                    </a:lnTo>
                    <a:lnTo>
                      <a:pt x="653525" y="812800"/>
                    </a:lnTo>
                    <a:lnTo>
                      <a:pt x="0" y="406400"/>
                    </a:lnTo>
                    <a:lnTo>
                      <a:pt x="653525" y="0"/>
                    </a:ln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160" id="160"/>
              <p:cNvSpPr txBox="true"/>
              <p:nvPr/>
            </p:nvSpPr>
            <p:spPr>
              <a:xfrm>
                <a:off x="224649" y="101600"/>
                <a:ext cx="857752" cy="57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6"/>
                  </a:lnSpc>
                  <a:spcBef>
                    <a:spcPct val="0"/>
                  </a:spcBef>
                </a:pPr>
                <a:r>
                  <a:rPr lang="en-US" sz="1447">
                    <a:solidFill>
                      <a:srgbClr val="000000"/>
                    </a:solidFill>
                    <a:latin typeface="ABeeZee Bold"/>
                    <a:ea typeface="ABeeZee Bold"/>
                    <a:cs typeface="ABeeZee Bold"/>
                    <a:sym typeface="ABeeZee Bold"/>
                  </a:rPr>
                  <a:t>CONTAINS</a:t>
                </a:r>
              </a:p>
            </p:txBody>
          </p:sp>
        </p:grpSp>
        <p:grpSp>
          <p:nvGrpSpPr>
            <p:cNvPr name="Group 161" id="161"/>
            <p:cNvGrpSpPr/>
            <p:nvPr/>
          </p:nvGrpSpPr>
          <p:grpSpPr>
            <a:xfrm rot="0">
              <a:off x="2753807" y="6251666"/>
              <a:ext cx="1542687" cy="1126139"/>
              <a:chOff x="0" y="0"/>
              <a:chExt cx="1113447" cy="812800"/>
            </a:xfrm>
          </p:grpSpPr>
          <p:sp>
            <p:nvSpPr>
              <p:cNvPr name="Freeform 162" id="162"/>
              <p:cNvSpPr/>
              <p:nvPr/>
            </p:nvSpPr>
            <p:spPr>
              <a:xfrm flipH="false" flipV="false" rot="0">
                <a:off x="0" y="0"/>
                <a:ext cx="111344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113447">
                    <a:moveTo>
                      <a:pt x="556723" y="0"/>
                    </a:moveTo>
                    <a:lnTo>
                      <a:pt x="1113447" y="406400"/>
                    </a:lnTo>
                    <a:lnTo>
                      <a:pt x="556723" y="812800"/>
                    </a:lnTo>
                    <a:lnTo>
                      <a:pt x="0" y="406400"/>
                    </a:lnTo>
                    <a:lnTo>
                      <a:pt x="556723" y="0"/>
                    </a:ln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163" id="163"/>
              <p:cNvSpPr txBox="true"/>
              <p:nvPr/>
            </p:nvSpPr>
            <p:spPr>
              <a:xfrm>
                <a:off x="191374" y="101600"/>
                <a:ext cx="730699" cy="57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6"/>
                  </a:lnSpc>
                  <a:spcBef>
                    <a:spcPct val="0"/>
                  </a:spcBef>
                </a:pPr>
                <a:r>
                  <a:rPr lang="en-US" sz="1447">
                    <a:solidFill>
                      <a:srgbClr val="000000"/>
                    </a:solidFill>
                    <a:latin typeface="ABeeZee Bold"/>
                    <a:ea typeface="ABeeZee Bold"/>
                    <a:cs typeface="ABeeZee Bold"/>
                    <a:sym typeface="ABeeZee Bold"/>
                  </a:rPr>
                  <a:t>OWNS</a:t>
                </a:r>
              </a:p>
            </p:txBody>
          </p:sp>
        </p:grpSp>
        <p:sp>
          <p:nvSpPr>
            <p:cNvPr name="TextBox 164" id="164"/>
            <p:cNvSpPr txBox="true"/>
            <p:nvPr/>
          </p:nvSpPr>
          <p:spPr>
            <a:xfrm rot="0">
              <a:off x="4351377" y="6488499"/>
              <a:ext cx="169755" cy="264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8"/>
                </a:lnSpc>
                <a:spcBef>
                  <a:spcPct val="0"/>
                </a:spcBef>
              </a:pPr>
              <a:r>
                <a:rPr lang="en-US" sz="1206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M</a:t>
              </a:r>
            </a:p>
          </p:txBody>
        </p:sp>
        <p:sp>
          <p:nvSpPr>
            <p:cNvPr name="TextBox 165" id="165"/>
            <p:cNvSpPr txBox="true"/>
            <p:nvPr/>
          </p:nvSpPr>
          <p:spPr>
            <a:xfrm rot="0">
              <a:off x="2613276" y="6460920"/>
              <a:ext cx="281062" cy="264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8"/>
                </a:lnSpc>
                <a:spcBef>
                  <a:spcPct val="0"/>
                </a:spcBef>
              </a:pPr>
              <a:r>
                <a:rPr lang="en-US" sz="1206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1</a:t>
              </a:r>
            </a:p>
          </p:txBody>
        </p:sp>
        <p:sp>
          <p:nvSpPr>
            <p:cNvPr name="TextBox 166" id="166"/>
            <p:cNvSpPr txBox="true"/>
            <p:nvPr/>
          </p:nvSpPr>
          <p:spPr>
            <a:xfrm rot="0">
              <a:off x="8210665" y="6488499"/>
              <a:ext cx="169755" cy="264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8"/>
                </a:lnSpc>
                <a:spcBef>
                  <a:spcPct val="0"/>
                </a:spcBef>
              </a:pPr>
              <a:r>
                <a:rPr lang="en-US" sz="1206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M</a:t>
              </a:r>
            </a:p>
          </p:txBody>
        </p:sp>
        <p:sp>
          <p:nvSpPr>
            <p:cNvPr name="TextBox 167" id="167"/>
            <p:cNvSpPr txBox="true"/>
            <p:nvPr/>
          </p:nvSpPr>
          <p:spPr>
            <a:xfrm rot="0">
              <a:off x="6572746" y="6460920"/>
              <a:ext cx="281062" cy="264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8"/>
                </a:lnSpc>
                <a:spcBef>
                  <a:spcPct val="0"/>
                </a:spcBef>
              </a:pPr>
              <a:r>
                <a:rPr lang="en-US" sz="1206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1</a:t>
              </a:r>
            </a:p>
          </p:txBody>
        </p:sp>
        <p:sp>
          <p:nvSpPr>
            <p:cNvPr name="TextBox 168" id="168"/>
            <p:cNvSpPr txBox="true"/>
            <p:nvPr/>
          </p:nvSpPr>
          <p:spPr>
            <a:xfrm rot="0">
              <a:off x="10357241" y="6488499"/>
              <a:ext cx="281062" cy="264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8"/>
                </a:lnSpc>
                <a:spcBef>
                  <a:spcPct val="0"/>
                </a:spcBef>
              </a:pPr>
              <a:r>
                <a:rPr lang="en-US" sz="1206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1</a:t>
              </a:r>
            </a:p>
          </p:txBody>
        </p:sp>
        <p:sp>
          <p:nvSpPr>
            <p:cNvPr name="TextBox 169" id="169"/>
            <p:cNvSpPr txBox="true"/>
            <p:nvPr/>
          </p:nvSpPr>
          <p:spPr>
            <a:xfrm rot="0">
              <a:off x="11995064" y="6488499"/>
              <a:ext cx="281062" cy="264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8"/>
                </a:lnSpc>
                <a:spcBef>
                  <a:spcPct val="0"/>
                </a:spcBef>
              </a:pPr>
              <a:r>
                <a:rPr lang="en-US" sz="1206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1</a:t>
              </a:r>
            </a:p>
          </p:txBody>
        </p:sp>
        <p:sp>
          <p:nvSpPr>
            <p:cNvPr name="TextBox 170" id="170"/>
            <p:cNvSpPr txBox="true"/>
            <p:nvPr/>
          </p:nvSpPr>
          <p:spPr>
            <a:xfrm rot="0">
              <a:off x="10540589" y="4046442"/>
              <a:ext cx="281062" cy="264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8"/>
                </a:lnSpc>
                <a:spcBef>
                  <a:spcPct val="0"/>
                </a:spcBef>
              </a:pPr>
              <a:r>
                <a:rPr lang="en-US" sz="1206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1</a:t>
              </a:r>
            </a:p>
          </p:txBody>
        </p:sp>
        <p:sp>
          <p:nvSpPr>
            <p:cNvPr name="AutoShape 171" id="171"/>
            <p:cNvSpPr/>
            <p:nvPr/>
          </p:nvSpPr>
          <p:spPr>
            <a:xfrm flipV="true">
              <a:off x="10204707" y="2091236"/>
              <a:ext cx="0" cy="903307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2" id="172"/>
            <p:cNvSpPr/>
            <p:nvPr/>
          </p:nvSpPr>
          <p:spPr>
            <a:xfrm flipV="true">
              <a:off x="10312872" y="667655"/>
              <a:ext cx="573187" cy="801540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3" id="173"/>
            <p:cNvSpPr/>
            <p:nvPr/>
          </p:nvSpPr>
          <p:spPr>
            <a:xfrm flipH="true" flipV="true">
              <a:off x="9412615" y="690383"/>
              <a:ext cx="652960" cy="779323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74" id="174"/>
            <p:cNvSpPr txBox="true"/>
            <p:nvPr/>
          </p:nvSpPr>
          <p:spPr>
            <a:xfrm rot="0">
              <a:off x="10357241" y="2708411"/>
              <a:ext cx="169755" cy="264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8"/>
                </a:lnSpc>
                <a:spcBef>
                  <a:spcPct val="0"/>
                </a:spcBef>
              </a:pPr>
              <a:r>
                <a:rPr lang="en-US" sz="1206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M</a:t>
              </a:r>
            </a:p>
          </p:txBody>
        </p:sp>
        <p:sp>
          <p:nvSpPr>
            <p:cNvPr name="TextBox 175" id="175"/>
            <p:cNvSpPr txBox="true"/>
            <p:nvPr/>
          </p:nvSpPr>
          <p:spPr>
            <a:xfrm rot="0">
              <a:off x="13309100" y="5436534"/>
              <a:ext cx="281062" cy="264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8"/>
                </a:lnSpc>
                <a:spcBef>
                  <a:spcPct val="0"/>
                </a:spcBef>
              </a:pPr>
              <a:r>
                <a:rPr lang="en-US" sz="1206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1</a:t>
              </a:r>
            </a:p>
          </p:txBody>
        </p:sp>
        <p:sp>
          <p:nvSpPr>
            <p:cNvPr name="TextBox 176" id="176"/>
            <p:cNvSpPr txBox="true"/>
            <p:nvPr/>
          </p:nvSpPr>
          <p:spPr>
            <a:xfrm rot="0">
              <a:off x="13364754" y="3845374"/>
              <a:ext cx="169755" cy="264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8"/>
                </a:lnSpc>
                <a:spcBef>
                  <a:spcPct val="0"/>
                </a:spcBef>
              </a:pPr>
              <a:r>
                <a:rPr lang="en-US" sz="1206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M</a:t>
              </a:r>
            </a:p>
          </p:txBody>
        </p:sp>
        <p:sp>
          <p:nvSpPr>
            <p:cNvPr name="AutoShape 177" id="177"/>
            <p:cNvSpPr/>
            <p:nvPr/>
          </p:nvSpPr>
          <p:spPr>
            <a:xfrm flipH="true" flipV="true">
              <a:off x="12614351" y="1705152"/>
              <a:ext cx="458119" cy="719372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8" id="178"/>
            <p:cNvSpPr/>
            <p:nvPr/>
          </p:nvSpPr>
          <p:spPr>
            <a:xfrm flipV="true">
              <a:off x="13388853" y="1696955"/>
              <a:ext cx="832121" cy="719437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79" id="179"/>
            <p:cNvSpPr txBox="true"/>
            <p:nvPr/>
          </p:nvSpPr>
          <p:spPr>
            <a:xfrm rot="0">
              <a:off x="14078297" y="2401224"/>
              <a:ext cx="281062" cy="264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8"/>
                </a:lnSpc>
                <a:spcBef>
                  <a:spcPct val="0"/>
                </a:spcBef>
              </a:pPr>
              <a:r>
                <a:rPr lang="en-US" sz="1206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1</a:t>
              </a:r>
            </a:p>
          </p:txBody>
        </p:sp>
        <p:sp>
          <p:nvSpPr>
            <p:cNvPr name="TextBox 180" id="180"/>
            <p:cNvSpPr txBox="true"/>
            <p:nvPr/>
          </p:nvSpPr>
          <p:spPr>
            <a:xfrm rot="0">
              <a:off x="16210667" y="2401224"/>
              <a:ext cx="169755" cy="264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8"/>
                </a:lnSpc>
                <a:spcBef>
                  <a:spcPct val="0"/>
                </a:spcBef>
              </a:pPr>
              <a:r>
                <a:rPr lang="en-US" sz="1206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M</a:t>
              </a:r>
            </a:p>
          </p:txBody>
        </p:sp>
        <p:sp>
          <p:nvSpPr>
            <p:cNvPr name="AutoShape 181" id="181"/>
            <p:cNvSpPr/>
            <p:nvPr/>
          </p:nvSpPr>
          <p:spPr>
            <a:xfrm flipH="true" flipV="true">
              <a:off x="16401237" y="1694046"/>
              <a:ext cx="820371" cy="734360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2" id="182"/>
            <p:cNvSpPr/>
            <p:nvPr/>
          </p:nvSpPr>
          <p:spPr>
            <a:xfrm flipV="true">
              <a:off x="17571705" y="1687286"/>
              <a:ext cx="723333" cy="723333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83" id="183"/>
            <p:cNvSpPr txBox="true"/>
            <p:nvPr/>
          </p:nvSpPr>
          <p:spPr>
            <a:xfrm rot="0">
              <a:off x="18584239" y="2401224"/>
              <a:ext cx="169755" cy="264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8"/>
                </a:lnSpc>
                <a:spcBef>
                  <a:spcPct val="0"/>
                </a:spcBef>
              </a:pPr>
              <a:r>
                <a:rPr lang="en-US" sz="1206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M</a:t>
              </a:r>
            </a:p>
          </p:txBody>
        </p:sp>
        <p:sp>
          <p:nvSpPr>
            <p:cNvPr name="TextBox 184" id="184"/>
            <p:cNvSpPr txBox="true"/>
            <p:nvPr/>
          </p:nvSpPr>
          <p:spPr>
            <a:xfrm rot="0">
              <a:off x="21117236" y="2401224"/>
              <a:ext cx="281062" cy="264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8"/>
                </a:lnSpc>
                <a:spcBef>
                  <a:spcPct val="0"/>
                </a:spcBef>
              </a:pPr>
              <a:r>
                <a:rPr lang="en-US" sz="1206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1</a:t>
              </a:r>
            </a:p>
          </p:txBody>
        </p:sp>
        <p:sp>
          <p:nvSpPr>
            <p:cNvPr name="AutoShape 185" id="185"/>
            <p:cNvSpPr/>
            <p:nvPr/>
          </p:nvSpPr>
          <p:spPr>
            <a:xfrm flipH="true" flipV="true">
              <a:off x="21210955" y="1724056"/>
              <a:ext cx="820371" cy="734360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6" id="186"/>
            <p:cNvSpPr/>
            <p:nvPr/>
          </p:nvSpPr>
          <p:spPr>
            <a:xfrm flipV="true">
              <a:off x="22521399" y="1726058"/>
              <a:ext cx="723333" cy="723333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87" id="187"/>
            <p:cNvGrpSpPr/>
            <p:nvPr/>
          </p:nvGrpSpPr>
          <p:grpSpPr>
            <a:xfrm rot="0">
              <a:off x="14463234" y="6251666"/>
              <a:ext cx="2075418" cy="1126139"/>
              <a:chOff x="0" y="0"/>
              <a:chExt cx="1497950" cy="812800"/>
            </a:xfrm>
          </p:grpSpPr>
          <p:sp>
            <p:nvSpPr>
              <p:cNvPr name="Freeform 188" id="188"/>
              <p:cNvSpPr/>
              <p:nvPr/>
            </p:nvSpPr>
            <p:spPr>
              <a:xfrm flipH="false" flipV="false" rot="0">
                <a:off x="0" y="0"/>
                <a:ext cx="149795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497950">
                    <a:moveTo>
                      <a:pt x="748975" y="0"/>
                    </a:moveTo>
                    <a:lnTo>
                      <a:pt x="1497950" y="406400"/>
                    </a:lnTo>
                    <a:lnTo>
                      <a:pt x="748975" y="812800"/>
                    </a:lnTo>
                    <a:lnTo>
                      <a:pt x="0" y="406400"/>
                    </a:lnTo>
                    <a:lnTo>
                      <a:pt x="748975" y="0"/>
                    </a:ln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189" id="189"/>
              <p:cNvSpPr txBox="true"/>
              <p:nvPr/>
            </p:nvSpPr>
            <p:spPr>
              <a:xfrm>
                <a:off x="257460" y="101600"/>
                <a:ext cx="983029" cy="57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6"/>
                  </a:lnSpc>
                  <a:spcBef>
                    <a:spcPct val="0"/>
                  </a:spcBef>
                </a:pPr>
                <a:r>
                  <a:rPr lang="en-US" sz="1447">
                    <a:solidFill>
                      <a:srgbClr val="000000"/>
                    </a:solidFill>
                    <a:latin typeface="ABeeZee Bold"/>
                    <a:ea typeface="ABeeZee Bold"/>
                    <a:cs typeface="ABeeZee Bold"/>
                    <a:sym typeface="ABeeZee Bold"/>
                  </a:rPr>
                  <a:t>GENERATES</a:t>
                </a:r>
              </a:p>
            </p:txBody>
          </p:sp>
        </p:grpSp>
        <p:sp>
          <p:nvSpPr>
            <p:cNvPr name="TextBox 190" id="190"/>
            <p:cNvSpPr txBox="true"/>
            <p:nvPr/>
          </p:nvSpPr>
          <p:spPr>
            <a:xfrm rot="0">
              <a:off x="14168358" y="6488499"/>
              <a:ext cx="281062" cy="264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8"/>
                </a:lnSpc>
                <a:spcBef>
                  <a:spcPct val="0"/>
                </a:spcBef>
              </a:pPr>
              <a:r>
                <a:rPr lang="en-US" sz="1206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1</a:t>
              </a:r>
            </a:p>
          </p:txBody>
        </p:sp>
        <p:sp>
          <p:nvSpPr>
            <p:cNvPr name="TextBox 191" id="191"/>
            <p:cNvSpPr txBox="true"/>
            <p:nvPr/>
          </p:nvSpPr>
          <p:spPr>
            <a:xfrm rot="0">
              <a:off x="16593535" y="6529949"/>
              <a:ext cx="281062" cy="264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8"/>
                </a:lnSpc>
                <a:spcBef>
                  <a:spcPct val="0"/>
                </a:spcBef>
              </a:pPr>
              <a:r>
                <a:rPr lang="en-US" sz="1206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1</a:t>
              </a:r>
            </a:p>
          </p:txBody>
        </p:sp>
        <p:sp>
          <p:nvSpPr>
            <p:cNvPr name="AutoShape 192" id="192"/>
            <p:cNvSpPr/>
            <p:nvPr/>
          </p:nvSpPr>
          <p:spPr>
            <a:xfrm flipH="true" flipV="true">
              <a:off x="17171861" y="5927660"/>
              <a:ext cx="499388" cy="573868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3" id="193"/>
            <p:cNvSpPr/>
            <p:nvPr/>
          </p:nvSpPr>
          <p:spPr>
            <a:xfrm flipV="true">
              <a:off x="17994326" y="5909179"/>
              <a:ext cx="1124705" cy="628679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94" id="194"/>
            <p:cNvGrpSpPr/>
            <p:nvPr/>
          </p:nvGrpSpPr>
          <p:grpSpPr>
            <a:xfrm rot="0">
              <a:off x="19358830" y="6251666"/>
              <a:ext cx="2075418" cy="1126139"/>
              <a:chOff x="0" y="0"/>
              <a:chExt cx="1497950" cy="812800"/>
            </a:xfrm>
          </p:grpSpPr>
          <p:sp>
            <p:nvSpPr>
              <p:cNvPr name="Freeform 195" id="195"/>
              <p:cNvSpPr/>
              <p:nvPr/>
            </p:nvSpPr>
            <p:spPr>
              <a:xfrm flipH="false" flipV="false" rot="0">
                <a:off x="0" y="0"/>
                <a:ext cx="149795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497950">
                    <a:moveTo>
                      <a:pt x="748975" y="0"/>
                    </a:moveTo>
                    <a:lnTo>
                      <a:pt x="1497950" y="406400"/>
                    </a:lnTo>
                    <a:lnTo>
                      <a:pt x="748975" y="812800"/>
                    </a:lnTo>
                    <a:lnTo>
                      <a:pt x="0" y="406400"/>
                    </a:lnTo>
                    <a:lnTo>
                      <a:pt x="748975" y="0"/>
                    </a:lnTo>
                    <a:close/>
                  </a:path>
                </a:pathLst>
              </a:custGeom>
              <a:solidFill>
                <a:srgbClr val="ACB8C0"/>
              </a:solidFill>
            </p:spPr>
          </p:sp>
          <p:sp>
            <p:nvSpPr>
              <p:cNvPr name="TextBox 196" id="196"/>
              <p:cNvSpPr txBox="true"/>
              <p:nvPr/>
            </p:nvSpPr>
            <p:spPr>
              <a:xfrm>
                <a:off x="257460" y="101600"/>
                <a:ext cx="983029" cy="571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26"/>
                  </a:lnSpc>
                  <a:spcBef>
                    <a:spcPct val="0"/>
                  </a:spcBef>
                </a:pPr>
                <a:r>
                  <a:rPr lang="en-US" sz="1447">
                    <a:solidFill>
                      <a:srgbClr val="000000"/>
                    </a:solidFill>
                    <a:latin typeface="ABeeZee Bold"/>
                    <a:ea typeface="ABeeZee Bold"/>
                    <a:cs typeface="ABeeZee Bold"/>
                    <a:sym typeface="ABeeZee Bold"/>
                  </a:rPr>
                  <a:t>RECEIVES</a:t>
                </a:r>
              </a:p>
            </p:txBody>
          </p:sp>
        </p:grpSp>
        <p:sp>
          <p:nvSpPr>
            <p:cNvPr name="AutoShape 197" id="197"/>
            <p:cNvSpPr/>
            <p:nvPr/>
          </p:nvSpPr>
          <p:spPr>
            <a:xfrm flipH="true" flipV="true">
              <a:off x="21608526" y="5897723"/>
              <a:ext cx="766874" cy="645198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8" id="198"/>
            <p:cNvSpPr/>
            <p:nvPr/>
          </p:nvSpPr>
          <p:spPr>
            <a:xfrm flipV="true">
              <a:off x="22902602" y="5935131"/>
              <a:ext cx="702104" cy="572417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99" id="199"/>
            <p:cNvSpPr txBox="true"/>
            <p:nvPr/>
          </p:nvSpPr>
          <p:spPr>
            <a:xfrm rot="0">
              <a:off x="21465570" y="6488499"/>
              <a:ext cx="169755" cy="264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8"/>
                </a:lnSpc>
                <a:spcBef>
                  <a:spcPct val="0"/>
                </a:spcBef>
              </a:pPr>
              <a:r>
                <a:rPr lang="en-US" sz="1206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M</a:t>
              </a:r>
            </a:p>
          </p:txBody>
        </p:sp>
        <p:sp>
          <p:nvSpPr>
            <p:cNvPr name="TextBox 200" id="200"/>
            <p:cNvSpPr txBox="true"/>
            <p:nvPr/>
          </p:nvSpPr>
          <p:spPr>
            <a:xfrm rot="0">
              <a:off x="12215267" y="9452637"/>
              <a:ext cx="169755" cy="264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8"/>
                </a:lnSpc>
                <a:spcBef>
                  <a:spcPct val="0"/>
                </a:spcBef>
              </a:pPr>
              <a:r>
                <a:rPr lang="en-US" sz="1206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M</a:t>
              </a:r>
            </a:p>
          </p:txBody>
        </p:sp>
        <p:sp>
          <p:nvSpPr>
            <p:cNvPr name="TextBox 201" id="201"/>
            <p:cNvSpPr txBox="true"/>
            <p:nvPr/>
          </p:nvSpPr>
          <p:spPr>
            <a:xfrm rot="0">
              <a:off x="13035852" y="9812633"/>
              <a:ext cx="169755" cy="264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8"/>
                </a:lnSpc>
                <a:spcBef>
                  <a:spcPct val="0"/>
                </a:spcBef>
              </a:pPr>
              <a:r>
                <a:rPr lang="en-US" sz="1206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M</a:t>
              </a:r>
            </a:p>
          </p:txBody>
        </p:sp>
        <p:sp>
          <p:nvSpPr>
            <p:cNvPr name="TextBox 202" id="202"/>
            <p:cNvSpPr txBox="true"/>
            <p:nvPr/>
          </p:nvSpPr>
          <p:spPr>
            <a:xfrm rot="0">
              <a:off x="15183830" y="9812633"/>
              <a:ext cx="281062" cy="264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8"/>
                </a:lnSpc>
                <a:spcBef>
                  <a:spcPct val="0"/>
                </a:spcBef>
              </a:pPr>
              <a:r>
                <a:rPr lang="en-US" sz="1206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1</a:t>
              </a:r>
            </a:p>
          </p:txBody>
        </p:sp>
        <p:sp>
          <p:nvSpPr>
            <p:cNvPr name="TextBox 203" id="203"/>
            <p:cNvSpPr txBox="true"/>
            <p:nvPr/>
          </p:nvSpPr>
          <p:spPr>
            <a:xfrm rot="0">
              <a:off x="12244490" y="7746097"/>
              <a:ext cx="281062" cy="264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8"/>
                </a:lnSpc>
                <a:spcBef>
                  <a:spcPct val="0"/>
                </a:spcBef>
              </a:pPr>
              <a:r>
                <a:rPr lang="en-US" sz="1206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1</a:t>
              </a:r>
            </a:p>
          </p:txBody>
        </p:sp>
        <p:sp>
          <p:nvSpPr>
            <p:cNvPr name="AutoShape 204" id="204"/>
            <p:cNvSpPr/>
            <p:nvPr/>
          </p:nvSpPr>
          <p:spPr>
            <a:xfrm flipH="true">
              <a:off x="11251773" y="10464474"/>
              <a:ext cx="530371" cy="316304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5" id="205"/>
            <p:cNvSpPr/>
            <p:nvPr/>
          </p:nvSpPr>
          <p:spPr>
            <a:xfrm>
              <a:off x="11995064" y="10464474"/>
              <a:ext cx="710615" cy="352814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6" id="206"/>
            <p:cNvSpPr/>
            <p:nvPr/>
          </p:nvSpPr>
          <p:spPr>
            <a:xfrm>
              <a:off x="16819361" y="10475774"/>
              <a:ext cx="746228" cy="181244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7" id="207"/>
            <p:cNvSpPr/>
            <p:nvPr/>
          </p:nvSpPr>
          <p:spPr>
            <a:xfrm flipH="true">
              <a:off x="15923076" y="10512502"/>
              <a:ext cx="486059" cy="268276"/>
            </a:xfrm>
            <a:prstGeom prst="line">
              <a:avLst/>
            </a:prstGeom>
            <a:ln cap="flat" w="2552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856814" y="2088376"/>
          <a:ext cx="14062339" cy="6838950"/>
        </p:xfrm>
        <a:graphic>
          <a:graphicData uri="http://schemas.openxmlformats.org/drawingml/2006/table">
            <a:tbl>
              <a:tblPr/>
              <a:tblGrid>
                <a:gridCol w="7031170"/>
                <a:gridCol w="7031170"/>
              </a:tblGrid>
              <a:tr h="11398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CUSTOMER (Customer_ID PK, Name, Phone, Email)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MECHANIC (Mechanic_ID PK, Name, Specialization, Phone)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98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VEHICLE (Vehicle_ID PK, Registration_No, Model, Customer_ID FK)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ASSIGNMENT (Assignment_ID PK, Start_Time, End_Time, Task_ID FK, Mechanic_ID FK)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98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SERVICE_BOOKING (Booking_ID PK, Service_Date, Status, Vehicle_ID FK)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SPARE_PART (Part_ID PK, Part_Name, Unit_Price, Stock_Quantity)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98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JOB_CARD (Job_Card_ID PK, Created_Date, Job_Status, Booking_ID FK)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PART_USAGE (Usage_ID PK, Quantity_Used, Job_Card_ID FK, Part_ID FK)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98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TASK (Task_ID PK, Description, Labour_Charge, Job_Card_ID FK)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INVOICE (Invoice_ID PK, Labour_Total, Parts_Total, Total_Amount, Job_Card_ID FK)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98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INSPECTION (Inspection_ID PK, Inspection_Date, Findings, Job_Card_ID FK)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PAYMENT (Payment_ID PK, Payment_Date, Amount_Paid, Payment_Method, Invoice_ID FK)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2506161" y="322197"/>
            <a:ext cx="8828597" cy="103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51"/>
              </a:lnSpc>
            </a:pPr>
            <a:r>
              <a:rPr lang="en-US" b="true" sz="5965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INITIAL RELATIONAL SCHEMA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16401083" y="-184286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2017078" y="2390934"/>
                </a:moveTo>
                <a:lnTo>
                  <a:pt x="0" y="2390934"/>
                </a:lnTo>
                <a:lnTo>
                  <a:pt x="0" y="0"/>
                </a:lnTo>
                <a:lnTo>
                  <a:pt x="2017078" y="0"/>
                </a:lnTo>
                <a:lnTo>
                  <a:pt x="2017078" y="239093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200586" y="-92273"/>
            <a:ext cx="1656227" cy="1686898"/>
          </a:xfrm>
          <a:custGeom>
            <a:avLst/>
            <a:gdLst/>
            <a:ahLst/>
            <a:cxnLst/>
            <a:rect r="r" b="b" t="t" l="l"/>
            <a:pathLst>
              <a:path h="1686898" w="1656227">
                <a:moveTo>
                  <a:pt x="0" y="1686898"/>
                </a:moveTo>
                <a:lnTo>
                  <a:pt x="1656228" y="1686898"/>
                </a:lnTo>
                <a:lnTo>
                  <a:pt x="1656228" y="0"/>
                </a:lnTo>
                <a:lnTo>
                  <a:pt x="0" y="0"/>
                </a:lnTo>
                <a:lnTo>
                  <a:pt x="0" y="168689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15532" y="3012278"/>
            <a:ext cx="8256935" cy="4262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4"/>
              </a:lnSpc>
            </a:pPr>
            <a:r>
              <a:rPr lang="en-US" b="true" sz="14003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6287443" y="7592438"/>
            <a:ext cx="2686140" cy="3184002"/>
          </a:xfrm>
          <a:custGeom>
            <a:avLst/>
            <a:gdLst/>
            <a:ahLst/>
            <a:cxnLst/>
            <a:rect r="r" b="b" t="t" l="l"/>
            <a:pathLst>
              <a:path h="3184002" w="2686140">
                <a:moveTo>
                  <a:pt x="2686139" y="0"/>
                </a:moveTo>
                <a:lnTo>
                  <a:pt x="0" y="0"/>
                </a:lnTo>
                <a:lnTo>
                  <a:pt x="0" y="3184002"/>
                </a:lnTo>
                <a:lnTo>
                  <a:pt x="2686139" y="3184002"/>
                </a:lnTo>
                <a:lnTo>
                  <a:pt x="26861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87443" y="7422745"/>
            <a:ext cx="815830" cy="830937"/>
          </a:xfrm>
          <a:custGeom>
            <a:avLst/>
            <a:gdLst/>
            <a:ahLst/>
            <a:cxnLst/>
            <a:rect r="r" b="b" t="t" l="l"/>
            <a:pathLst>
              <a:path h="830937" w="815830">
                <a:moveTo>
                  <a:pt x="815829" y="0"/>
                </a:moveTo>
                <a:lnTo>
                  <a:pt x="0" y="0"/>
                </a:lnTo>
                <a:lnTo>
                  <a:pt x="0" y="830938"/>
                </a:lnTo>
                <a:lnTo>
                  <a:pt x="815829" y="830938"/>
                </a:lnTo>
                <a:lnTo>
                  <a:pt x="81582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777144" y="-707936"/>
            <a:ext cx="4169756" cy="2519853"/>
          </a:xfrm>
          <a:custGeom>
            <a:avLst/>
            <a:gdLst/>
            <a:ahLst/>
            <a:cxnLst/>
            <a:rect r="r" b="b" t="t" l="l"/>
            <a:pathLst>
              <a:path h="2519853" w="4169756">
                <a:moveTo>
                  <a:pt x="0" y="2519853"/>
                </a:moveTo>
                <a:lnTo>
                  <a:pt x="4169757" y="2519853"/>
                </a:lnTo>
                <a:lnTo>
                  <a:pt x="4169757" y="0"/>
                </a:lnTo>
                <a:lnTo>
                  <a:pt x="0" y="0"/>
                </a:lnTo>
                <a:lnTo>
                  <a:pt x="0" y="251985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895387" y="-707936"/>
            <a:ext cx="4169756" cy="2519853"/>
          </a:xfrm>
          <a:custGeom>
            <a:avLst/>
            <a:gdLst/>
            <a:ahLst/>
            <a:cxnLst/>
            <a:rect r="r" b="b" t="t" l="l"/>
            <a:pathLst>
              <a:path h="2519853" w="4169756">
                <a:moveTo>
                  <a:pt x="4169757" y="2519853"/>
                </a:moveTo>
                <a:lnTo>
                  <a:pt x="0" y="2519853"/>
                </a:lnTo>
                <a:lnTo>
                  <a:pt x="0" y="0"/>
                </a:lnTo>
                <a:lnTo>
                  <a:pt x="4169757" y="0"/>
                </a:lnTo>
                <a:lnTo>
                  <a:pt x="4169757" y="251985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90032" y="7429442"/>
            <a:ext cx="2686140" cy="3184002"/>
          </a:xfrm>
          <a:custGeom>
            <a:avLst/>
            <a:gdLst/>
            <a:ahLst/>
            <a:cxnLst/>
            <a:rect r="r" b="b" t="t" l="l"/>
            <a:pathLst>
              <a:path h="3184002" w="2686140">
                <a:moveTo>
                  <a:pt x="0" y="0"/>
                </a:moveTo>
                <a:lnTo>
                  <a:pt x="2686139" y="0"/>
                </a:lnTo>
                <a:lnTo>
                  <a:pt x="2686139" y="3184002"/>
                </a:lnTo>
                <a:lnTo>
                  <a:pt x="0" y="3184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1701" y="7274722"/>
            <a:ext cx="815830" cy="830937"/>
          </a:xfrm>
          <a:custGeom>
            <a:avLst/>
            <a:gdLst/>
            <a:ahLst/>
            <a:cxnLst/>
            <a:rect r="r" b="b" t="t" l="l"/>
            <a:pathLst>
              <a:path h="830937" w="815830">
                <a:moveTo>
                  <a:pt x="0" y="0"/>
                </a:moveTo>
                <a:lnTo>
                  <a:pt x="815830" y="0"/>
                </a:lnTo>
                <a:lnTo>
                  <a:pt x="815830" y="830937"/>
                </a:lnTo>
                <a:lnTo>
                  <a:pt x="0" y="830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DAHXMxVbm3Q</dc:identifier>
  <dcterms:modified xsi:type="dcterms:W3CDTF">2011-08-01T06:04:30Z</dcterms:modified>
  <cp:revision>1</cp:revision>
</cp:coreProperties>
</file>